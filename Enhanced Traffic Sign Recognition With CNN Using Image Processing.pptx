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4"/>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slide" Target="slides/slide12.xml"/><Relationship Id="rId6" Type="http://schemas.openxmlformats.org/officeDocument/2006/relationships/slideMaster" Target="slideMasters/slideMaster3.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da56246fd8_0_1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da56246fd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da56246fd8_0_7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da56246fd8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da56246fd8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da56246fd8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da56246fd8_0_1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da56246fd8_0_1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da56246fd8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da56246fd8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da56246fd8_0_1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da56246fd8_0_1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da56246fd8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da56246fd8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dac85c2af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dac85c2af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dac85c2a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dac85c2a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da56246fd8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da56246fd8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dac85c2af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dac85c2af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da56246fd8_0_1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da56246fd8_0_1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da56246fd8_0_1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da56246fd8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da56246fd8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da56246fd8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da56246fd8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da56246fd8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da56246fd8_0_97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da56246fd8_0_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4" name="Shape 134"/>
        <p:cNvGrpSpPr/>
        <p:nvPr/>
      </p:nvGrpSpPr>
      <p:grpSpPr>
        <a:xfrm>
          <a:off x="0" y="0"/>
          <a:ext cx="0" cy="0"/>
          <a:chOff x="0" y="0"/>
          <a:chExt cx="0" cy="0"/>
        </a:xfrm>
      </p:grpSpPr>
      <p:sp>
        <p:nvSpPr>
          <p:cNvPr id="135" name="Google Shape;135;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14"/>
          <p:cNvGrpSpPr/>
          <p:nvPr/>
        </p:nvGrpSpPr>
        <p:grpSpPr>
          <a:xfrm>
            <a:off x="830392" y="1191256"/>
            <a:ext cx="745763" cy="45826"/>
            <a:chOff x="4580561" y="2589004"/>
            <a:chExt cx="1064464" cy="25200"/>
          </a:xfrm>
        </p:grpSpPr>
        <p:sp>
          <p:nvSpPr>
            <p:cNvPr id="137" name="Google Shape;137;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40" name="Google Shape;140;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1" name="Google Shape;141;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2" name="Shape 142"/>
        <p:cNvGrpSpPr/>
        <p:nvPr/>
      </p:nvGrpSpPr>
      <p:grpSpPr>
        <a:xfrm>
          <a:off x="0" y="0"/>
          <a:ext cx="0" cy="0"/>
          <a:chOff x="0" y="0"/>
          <a:chExt cx="0" cy="0"/>
        </a:xfrm>
      </p:grpSpPr>
      <p:grpSp>
        <p:nvGrpSpPr>
          <p:cNvPr id="143" name="Google Shape;143;p15"/>
          <p:cNvGrpSpPr/>
          <p:nvPr/>
        </p:nvGrpSpPr>
        <p:grpSpPr>
          <a:xfrm>
            <a:off x="830392" y="1191256"/>
            <a:ext cx="745763" cy="45826"/>
            <a:chOff x="4580561" y="2589004"/>
            <a:chExt cx="1064464" cy="25200"/>
          </a:xfrm>
        </p:grpSpPr>
        <p:sp>
          <p:nvSpPr>
            <p:cNvPr id="144" name="Google Shape;14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 name="Google Shape;146;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47" name="Google Shape;147;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8" name="Shape 148"/>
        <p:cNvGrpSpPr/>
        <p:nvPr/>
      </p:nvGrpSpPr>
      <p:grpSpPr>
        <a:xfrm>
          <a:off x="0" y="0"/>
          <a:ext cx="0" cy="0"/>
          <a:chOff x="0" y="0"/>
          <a:chExt cx="0" cy="0"/>
        </a:xfrm>
      </p:grpSpPr>
      <p:sp>
        <p:nvSpPr>
          <p:cNvPr id="149" name="Google Shape;149;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16"/>
          <p:cNvGrpSpPr/>
          <p:nvPr/>
        </p:nvGrpSpPr>
        <p:grpSpPr>
          <a:xfrm>
            <a:off x="830392" y="1191256"/>
            <a:ext cx="745763" cy="45826"/>
            <a:chOff x="4580561" y="2589004"/>
            <a:chExt cx="1064464" cy="25200"/>
          </a:xfrm>
        </p:grpSpPr>
        <p:sp>
          <p:nvSpPr>
            <p:cNvPr id="151" name="Google Shape;151;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 name="Google Shape;153;p1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54" name="Google Shape;154;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55" name="Google Shape;155;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6" name="Shape 156"/>
        <p:cNvGrpSpPr/>
        <p:nvPr/>
      </p:nvGrpSpPr>
      <p:grpSpPr>
        <a:xfrm>
          <a:off x="0" y="0"/>
          <a:ext cx="0" cy="0"/>
          <a:chOff x="0" y="0"/>
          <a:chExt cx="0" cy="0"/>
        </a:xfrm>
      </p:grpSpPr>
      <p:sp>
        <p:nvSpPr>
          <p:cNvPr id="157" name="Google Shape;157;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17"/>
          <p:cNvGrpSpPr/>
          <p:nvPr/>
        </p:nvGrpSpPr>
        <p:grpSpPr>
          <a:xfrm>
            <a:off x="830392" y="1191256"/>
            <a:ext cx="745763" cy="45826"/>
            <a:chOff x="4580561" y="2589004"/>
            <a:chExt cx="1064464" cy="25200"/>
          </a:xfrm>
        </p:grpSpPr>
        <p:sp>
          <p:nvSpPr>
            <p:cNvPr id="159" name="Google Shape;159;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 name="Google Shape;161;p17"/>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62" name="Google Shape;162;p17"/>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63" name="Google Shape;163;p17"/>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64" name="Google Shape;164;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 name="Google Shape;167;p18"/>
          <p:cNvGrpSpPr/>
          <p:nvPr/>
        </p:nvGrpSpPr>
        <p:grpSpPr>
          <a:xfrm>
            <a:off x="830392" y="1191256"/>
            <a:ext cx="745763" cy="45826"/>
            <a:chOff x="4580561" y="2589004"/>
            <a:chExt cx="1064464" cy="25200"/>
          </a:xfrm>
        </p:grpSpPr>
        <p:sp>
          <p:nvSpPr>
            <p:cNvPr id="168" name="Google Shape;168;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18"/>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71" name="Google Shape;171;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2" name="Shape 172"/>
        <p:cNvGrpSpPr/>
        <p:nvPr/>
      </p:nvGrpSpPr>
      <p:grpSpPr>
        <a:xfrm>
          <a:off x="0" y="0"/>
          <a:ext cx="0" cy="0"/>
          <a:chOff x="0" y="0"/>
          <a:chExt cx="0" cy="0"/>
        </a:xfrm>
      </p:grpSpPr>
      <p:sp>
        <p:nvSpPr>
          <p:cNvPr id="173" name="Google Shape;173;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19"/>
          <p:cNvGrpSpPr/>
          <p:nvPr/>
        </p:nvGrpSpPr>
        <p:grpSpPr>
          <a:xfrm>
            <a:off x="830392" y="1191256"/>
            <a:ext cx="745763" cy="45826"/>
            <a:chOff x="4580561" y="2589004"/>
            <a:chExt cx="1064464" cy="25200"/>
          </a:xfrm>
        </p:grpSpPr>
        <p:sp>
          <p:nvSpPr>
            <p:cNvPr id="175" name="Google Shape;175;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9"/>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78" name="Google Shape;178;p19"/>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79" name="Google Shape;17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80" name="Shape 180"/>
        <p:cNvGrpSpPr/>
        <p:nvPr/>
      </p:nvGrpSpPr>
      <p:grpSpPr>
        <a:xfrm>
          <a:off x="0" y="0"/>
          <a:ext cx="0" cy="0"/>
          <a:chOff x="0" y="0"/>
          <a:chExt cx="0" cy="0"/>
        </a:xfrm>
      </p:grpSpPr>
      <p:grpSp>
        <p:nvGrpSpPr>
          <p:cNvPr id="181" name="Google Shape;181;p20"/>
          <p:cNvGrpSpPr/>
          <p:nvPr/>
        </p:nvGrpSpPr>
        <p:grpSpPr>
          <a:xfrm>
            <a:off x="830392" y="4169130"/>
            <a:ext cx="745763" cy="45826"/>
            <a:chOff x="4580561" y="2589004"/>
            <a:chExt cx="1064464" cy="25200"/>
          </a:xfrm>
        </p:grpSpPr>
        <p:sp>
          <p:nvSpPr>
            <p:cNvPr id="182" name="Google Shape;182;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85" name="Google Shape;185;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6" name="Shape 186"/>
        <p:cNvGrpSpPr/>
        <p:nvPr/>
      </p:nvGrpSpPr>
      <p:grpSpPr>
        <a:xfrm>
          <a:off x="0" y="0"/>
          <a:ext cx="0" cy="0"/>
          <a:chOff x="0" y="0"/>
          <a:chExt cx="0" cy="0"/>
        </a:xfrm>
      </p:grpSpPr>
      <p:sp>
        <p:nvSpPr>
          <p:cNvPr id="187" name="Google Shape;187;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21"/>
          <p:cNvGrpSpPr/>
          <p:nvPr/>
        </p:nvGrpSpPr>
        <p:grpSpPr>
          <a:xfrm>
            <a:off x="830392" y="1191256"/>
            <a:ext cx="745763" cy="45826"/>
            <a:chOff x="4580561" y="2589004"/>
            <a:chExt cx="1064464" cy="25200"/>
          </a:xfrm>
        </p:grpSpPr>
        <p:sp>
          <p:nvSpPr>
            <p:cNvPr id="189" name="Google Shape;189;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 name="Google Shape;191;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92" name="Google Shape;192;p21"/>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93" name="Google Shape;193;p21"/>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94" name="Google Shape;194;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5" name="Shape 195"/>
        <p:cNvGrpSpPr/>
        <p:nvPr/>
      </p:nvGrpSpPr>
      <p:grpSpPr>
        <a:xfrm>
          <a:off x="0" y="0"/>
          <a:ext cx="0" cy="0"/>
          <a:chOff x="0" y="0"/>
          <a:chExt cx="0" cy="0"/>
        </a:xfrm>
      </p:grpSpPr>
      <p:sp>
        <p:nvSpPr>
          <p:cNvPr id="196" name="Google Shape;196;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197" name="Google Shape;197;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98" name="Shape 198"/>
        <p:cNvGrpSpPr/>
        <p:nvPr/>
      </p:nvGrpSpPr>
      <p:grpSpPr>
        <a:xfrm>
          <a:off x="0" y="0"/>
          <a:ext cx="0" cy="0"/>
          <a:chOff x="0" y="0"/>
          <a:chExt cx="0" cy="0"/>
        </a:xfrm>
      </p:grpSpPr>
      <p:grpSp>
        <p:nvGrpSpPr>
          <p:cNvPr id="199" name="Google Shape;199;p23"/>
          <p:cNvGrpSpPr/>
          <p:nvPr/>
        </p:nvGrpSpPr>
        <p:grpSpPr>
          <a:xfrm>
            <a:off x="830392" y="4169130"/>
            <a:ext cx="745763" cy="45826"/>
            <a:chOff x="4580561" y="2589004"/>
            <a:chExt cx="1064464" cy="25200"/>
          </a:xfrm>
        </p:grpSpPr>
        <p:sp>
          <p:nvSpPr>
            <p:cNvPr id="200" name="Google Shape;200;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203" name="Google Shape;203;p23"/>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0"/>
              </a:spcBef>
              <a:spcAft>
                <a:spcPts val="0"/>
              </a:spcAft>
              <a:buClr>
                <a:schemeClr val="lt1"/>
              </a:buClr>
              <a:buSzPts val="1100"/>
              <a:buChar char="○"/>
              <a:defRPr>
                <a:solidFill>
                  <a:schemeClr val="lt1"/>
                </a:solidFill>
              </a:defRPr>
            </a:lvl2pPr>
            <a:lvl3pPr indent="-298450" lvl="2" marL="1371600" rtl="0">
              <a:spcBef>
                <a:spcPts val="0"/>
              </a:spcBef>
              <a:spcAft>
                <a:spcPts val="0"/>
              </a:spcAft>
              <a:buClr>
                <a:schemeClr val="lt1"/>
              </a:buClr>
              <a:buSzPts val="1100"/>
              <a:buChar char="■"/>
              <a:defRPr>
                <a:solidFill>
                  <a:schemeClr val="lt1"/>
                </a:solidFill>
              </a:defRPr>
            </a:lvl3pPr>
            <a:lvl4pPr indent="-298450" lvl="3" marL="1828800" rtl="0">
              <a:spcBef>
                <a:spcPts val="0"/>
              </a:spcBef>
              <a:spcAft>
                <a:spcPts val="0"/>
              </a:spcAft>
              <a:buClr>
                <a:schemeClr val="lt1"/>
              </a:buClr>
              <a:buSzPts val="1100"/>
              <a:buChar char="●"/>
              <a:defRPr>
                <a:solidFill>
                  <a:schemeClr val="lt1"/>
                </a:solidFill>
              </a:defRPr>
            </a:lvl4pPr>
            <a:lvl5pPr indent="-298450" lvl="4" marL="2286000" rtl="0">
              <a:spcBef>
                <a:spcPts val="0"/>
              </a:spcBef>
              <a:spcAft>
                <a:spcPts val="0"/>
              </a:spcAft>
              <a:buClr>
                <a:schemeClr val="lt1"/>
              </a:buClr>
              <a:buSzPts val="1100"/>
              <a:buChar char="○"/>
              <a:defRPr>
                <a:solidFill>
                  <a:schemeClr val="lt1"/>
                </a:solidFill>
              </a:defRPr>
            </a:lvl5pPr>
            <a:lvl6pPr indent="-298450" lvl="5" marL="2743200" rtl="0">
              <a:spcBef>
                <a:spcPts val="0"/>
              </a:spcBef>
              <a:spcAft>
                <a:spcPts val="0"/>
              </a:spcAft>
              <a:buClr>
                <a:schemeClr val="lt1"/>
              </a:buClr>
              <a:buSzPts val="1100"/>
              <a:buChar char="■"/>
              <a:defRPr>
                <a:solidFill>
                  <a:schemeClr val="lt1"/>
                </a:solidFill>
              </a:defRPr>
            </a:lvl6pPr>
            <a:lvl7pPr indent="-298450" lvl="6" marL="3200400" rtl="0">
              <a:spcBef>
                <a:spcPts val="0"/>
              </a:spcBef>
              <a:spcAft>
                <a:spcPts val="0"/>
              </a:spcAft>
              <a:buClr>
                <a:schemeClr val="lt1"/>
              </a:buClr>
              <a:buSzPts val="1100"/>
              <a:buChar char="●"/>
              <a:defRPr>
                <a:solidFill>
                  <a:schemeClr val="lt1"/>
                </a:solidFill>
              </a:defRPr>
            </a:lvl7pPr>
            <a:lvl8pPr indent="-298450" lvl="7" marL="3657600" rtl="0">
              <a:spcBef>
                <a:spcPts val="0"/>
              </a:spcBef>
              <a:spcAft>
                <a:spcPts val="0"/>
              </a:spcAft>
              <a:buClr>
                <a:schemeClr val="lt1"/>
              </a:buClr>
              <a:buSzPts val="1100"/>
              <a:buChar char="○"/>
              <a:defRPr>
                <a:solidFill>
                  <a:schemeClr val="lt1"/>
                </a:solidFill>
              </a:defRPr>
            </a:lvl8pPr>
            <a:lvl9pPr indent="-298450" lvl="8" marL="4114800" rtl="0">
              <a:spcBef>
                <a:spcPts val="0"/>
              </a:spcBef>
              <a:spcAft>
                <a:spcPts val="0"/>
              </a:spcAft>
              <a:buClr>
                <a:schemeClr val="lt1"/>
              </a:buClr>
              <a:buSzPts val="1100"/>
              <a:buChar char="■"/>
              <a:defRPr>
                <a:solidFill>
                  <a:schemeClr val="lt1"/>
                </a:solidFill>
              </a:defRPr>
            </a:lvl9pPr>
          </a:lstStyle>
          <a:p/>
        </p:txBody>
      </p:sp>
      <p:sp>
        <p:nvSpPr>
          <p:cNvPr id="204" name="Google Shape;204;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 name="Shape 205"/>
        <p:cNvGrpSpPr/>
        <p:nvPr/>
      </p:nvGrpSpPr>
      <p:grpSpPr>
        <a:xfrm>
          <a:off x="0" y="0"/>
          <a:ext cx="0" cy="0"/>
          <a:chOff x="0" y="0"/>
          <a:chExt cx="0" cy="0"/>
        </a:xfrm>
      </p:grpSpPr>
      <p:sp>
        <p:nvSpPr>
          <p:cNvPr id="206" name="Google Shape;206;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1" name="Shape 211"/>
        <p:cNvGrpSpPr/>
        <p:nvPr/>
      </p:nvGrpSpPr>
      <p:grpSpPr>
        <a:xfrm>
          <a:off x="0" y="0"/>
          <a:ext cx="0" cy="0"/>
          <a:chOff x="0" y="0"/>
          <a:chExt cx="0" cy="0"/>
        </a:xfrm>
      </p:grpSpPr>
      <p:sp>
        <p:nvSpPr>
          <p:cNvPr id="212" name="Google Shape;212;p26"/>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6"/>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15" name="Google Shape;215;p26"/>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216" name="Google Shape;216;p2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7" name="Shape 217"/>
        <p:cNvGrpSpPr/>
        <p:nvPr/>
      </p:nvGrpSpPr>
      <p:grpSpPr>
        <a:xfrm>
          <a:off x="0" y="0"/>
          <a:ext cx="0" cy="0"/>
          <a:chOff x="0" y="0"/>
          <a:chExt cx="0" cy="0"/>
        </a:xfrm>
      </p:grpSpPr>
      <p:sp>
        <p:nvSpPr>
          <p:cNvPr id="218" name="Google Shape;218;p27"/>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219" name="Google Shape;219;p2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0" name="Shape 220"/>
        <p:cNvGrpSpPr/>
        <p:nvPr/>
      </p:nvGrpSpPr>
      <p:grpSpPr>
        <a:xfrm>
          <a:off x="0" y="0"/>
          <a:ext cx="0" cy="0"/>
          <a:chOff x="0" y="0"/>
          <a:chExt cx="0" cy="0"/>
        </a:xfrm>
      </p:grpSpPr>
      <p:sp>
        <p:nvSpPr>
          <p:cNvPr id="221" name="Google Shape;221;p28"/>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8"/>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24" name="Google Shape;224;p2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25" name="Google Shape;225;p2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6" name="Shape 226"/>
        <p:cNvGrpSpPr/>
        <p:nvPr/>
      </p:nvGrpSpPr>
      <p:grpSpPr>
        <a:xfrm>
          <a:off x="0" y="0"/>
          <a:ext cx="0" cy="0"/>
          <a:chOff x="0" y="0"/>
          <a:chExt cx="0" cy="0"/>
        </a:xfrm>
      </p:grpSpPr>
      <p:sp>
        <p:nvSpPr>
          <p:cNvPr id="227" name="Google Shape;227;p29"/>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9"/>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30" name="Google Shape;230;p29"/>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1" name="Google Shape;231;p29"/>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2" name="Google Shape;232;p2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3" name="Shape 233"/>
        <p:cNvGrpSpPr/>
        <p:nvPr/>
      </p:nvGrpSpPr>
      <p:grpSpPr>
        <a:xfrm>
          <a:off x="0" y="0"/>
          <a:ext cx="0" cy="0"/>
          <a:chOff x="0" y="0"/>
          <a:chExt cx="0" cy="0"/>
        </a:xfrm>
      </p:grpSpPr>
      <p:sp>
        <p:nvSpPr>
          <p:cNvPr id="234" name="Google Shape;234;p30"/>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0"/>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0"/>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37" name="Google Shape;237;p3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8" name="Shape 238"/>
        <p:cNvGrpSpPr/>
        <p:nvPr/>
      </p:nvGrpSpPr>
      <p:grpSpPr>
        <a:xfrm>
          <a:off x="0" y="0"/>
          <a:ext cx="0" cy="0"/>
          <a:chOff x="0" y="0"/>
          <a:chExt cx="0" cy="0"/>
        </a:xfrm>
      </p:grpSpPr>
      <p:sp>
        <p:nvSpPr>
          <p:cNvPr id="239" name="Google Shape;239;p31"/>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1"/>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1"/>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42" name="Google Shape;242;p31"/>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1"/>
              </a:buClr>
              <a:buSzPts val="1200"/>
              <a:buChar char="●"/>
              <a:defRPr sz="1200">
                <a:solidFill>
                  <a:schemeClr val="lt1"/>
                </a:solidFill>
              </a:defRPr>
            </a:lvl1pPr>
            <a:lvl2pPr indent="-304800" lvl="1" marL="914400" rtl="0">
              <a:spcBef>
                <a:spcPts val="1600"/>
              </a:spcBef>
              <a:spcAft>
                <a:spcPts val="0"/>
              </a:spcAft>
              <a:buClr>
                <a:schemeClr val="lt1"/>
              </a:buClr>
              <a:buSzPts val="1200"/>
              <a:buChar char="○"/>
              <a:defRPr sz="1200">
                <a:solidFill>
                  <a:schemeClr val="lt1"/>
                </a:solidFill>
              </a:defRPr>
            </a:lvl2pPr>
            <a:lvl3pPr indent="-304800" lvl="2" marL="1371600" rtl="0">
              <a:spcBef>
                <a:spcPts val="1600"/>
              </a:spcBef>
              <a:spcAft>
                <a:spcPts val="0"/>
              </a:spcAft>
              <a:buClr>
                <a:schemeClr val="lt1"/>
              </a:buClr>
              <a:buSzPts val="1200"/>
              <a:buChar char="■"/>
              <a:defRPr sz="1200">
                <a:solidFill>
                  <a:schemeClr val="lt1"/>
                </a:solidFill>
              </a:defRPr>
            </a:lvl3pPr>
            <a:lvl4pPr indent="-304800" lvl="3" marL="1828800" rtl="0">
              <a:spcBef>
                <a:spcPts val="1600"/>
              </a:spcBef>
              <a:spcAft>
                <a:spcPts val="0"/>
              </a:spcAft>
              <a:buClr>
                <a:schemeClr val="lt1"/>
              </a:buClr>
              <a:buSzPts val="1200"/>
              <a:buChar char="●"/>
              <a:defRPr sz="1200">
                <a:solidFill>
                  <a:schemeClr val="lt1"/>
                </a:solidFill>
              </a:defRPr>
            </a:lvl4pPr>
            <a:lvl5pPr indent="-304800" lvl="4" marL="2286000" rtl="0">
              <a:spcBef>
                <a:spcPts val="1600"/>
              </a:spcBef>
              <a:spcAft>
                <a:spcPts val="0"/>
              </a:spcAft>
              <a:buClr>
                <a:schemeClr val="lt1"/>
              </a:buClr>
              <a:buSzPts val="1200"/>
              <a:buChar char="○"/>
              <a:defRPr sz="1200">
                <a:solidFill>
                  <a:schemeClr val="lt1"/>
                </a:solidFill>
              </a:defRPr>
            </a:lvl5pPr>
            <a:lvl6pPr indent="-304800" lvl="5" marL="2743200" rtl="0">
              <a:spcBef>
                <a:spcPts val="1600"/>
              </a:spcBef>
              <a:spcAft>
                <a:spcPts val="0"/>
              </a:spcAft>
              <a:buClr>
                <a:schemeClr val="lt1"/>
              </a:buClr>
              <a:buSzPts val="1200"/>
              <a:buChar char="■"/>
              <a:defRPr sz="1200">
                <a:solidFill>
                  <a:schemeClr val="lt1"/>
                </a:solidFill>
              </a:defRPr>
            </a:lvl6pPr>
            <a:lvl7pPr indent="-304800" lvl="6" marL="3200400" rtl="0">
              <a:spcBef>
                <a:spcPts val="1600"/>
              </a:spcBef>
              <a:spcAft>
                <a:spcPts val="0"/>
              </a:spcAft>
              <a:buClr>
                <a:schemeClr val="lt1"/>
              </a:buClr>
              <a:buSzPts val="1200"/>
              <a:buChar char="●"/>
              <a:defRPr sz="1200">
                <a:solidFill>
                  <a:schemeClr val="lt1"/>
                </a:solidFill>
              </a:defRPr>
            </a:lvl7pPr>
            <a:lvl8pPr indent="-304800" lvl="7" marL="3657600" rtl="0">
              <a:spcBef>
                <a:spcPts val="1600"/>
              </a:spcBef>
              <a:spcAft>
                <a:spcPts val="0"/>
              </a:spcAft>
              <a:buClr>
                <a:schemeClr val="lt1"/>
              </a:buClr>
              <a:buSzPts val="1200"/>
              <a:buChar char="○"/>
              <a:defRPr sz="1200">
                <a:solidFill>
                  <a:schemeClr val="lt1"/>
                </a:solidFill>
              </a:defRPr>
            </a:lvl8pPr>
            <a:lvl9pPr indent="-304800" lvl="8" marL="4114800" rtl="0">
              <a:spcBef>
                <a:spcPts val="1600"/>
              </a:spcBef>
              <a:spcAft>
                <a:spcPts val="1600"/>
              </a:spcAft>
              <a:buClr>
                <a:schemeClr val="lt1"/>
              </a:buClr>
              <a:buSzPts val="1200"/>
              <a:buChar char="■"/>
              <a:defRPr sz="1200">
                <a:solidFill>
                  <a:schemeClr val="lt1"/>
                </a:solidFill>
              </a:defRPr>
            </a:lvl9pPr>
          </a:lstStyle>
          <a:p/>
        </p:txBody>
      </p:sp>
      <p:sp>
        <p:nvSpPr>
          <p:cNvPr id="243" name="Google Shape;243;p3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4" name="Shape 244"/>
        <p:cNvGrpSpPr/>
        <p:nvPr/>
      </p:nvGrpSpPr>
      <p:grpSpPr>
        <a:xfrm>
          <a:off x="0" y="0"/>
          <a:ext cx="0" cy="0"/>
          <a:chOff x="0" y="0"/>
          <a:chExt cx="0" cy="0"/>
        </a:xfrm>
      </p:grpSpPr>
      <p:sp>
        <p:nvSpPr>
          <p:cNvPr id="245" name="Google Shape;245;p32"/>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246" name="Google Shape;246;p3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7" name="Shape 247"/>
        <p:cNvGrpSpPr/>
        <p:nvPr/>
      </p:nvGrpSpPr>
      <p:grpSpPr>
        <a:xfrm>
          <a:off x="0" y="0"/>
          <a:ext cx="0" cy="0"/>
          <a:chOff x="0" y="0"/>
          <a:chExt cx="0" cy="0"/>
        </a:xfrm>
      </p:grpSpPr>
      <p:sp>
        <p:nvSpPr>
          <p:cNvPr id="248" name="Google Shape;248;p33"/>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3"/>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4200"/>
              <a:buNone/>
              <a:defRPr sz="4200">
                <a:solidFill>
                  <a:schemeClr val="dk2"/>
                </a:solidFill>
              </a:defRPr>
            </a:lvl1pPr>
            <a:lvl2pPr lvl="1" rtl="0" algn="ctr">
              <a:spcBef>
                <a:spcPts val="0"/>
              </a:spcBef>
              <a:spcAft>
                <a:spcPts val="0"/>
              </a:spcAft>
              <a:buClr>
                <a:schemeClr val="dk2"/>
              </a:buClr>
              <a:buSzPts val="4200"/>
              <a:buNone/>
              <a:defRPr sz="4200">
                <a:solidFill>
                  <a:schemeClr val="dk2"/>
                </a:solidFill>
              </a:defRPr>
            </a:lvl2pPr>
            <a:lvl3pPr lvl="2" rtl="0" algn="ctr">
              <a:spcBef>
                <a:spcPts val="0"/>
              </a:spcBef>
              <a:spcAft>
                <a:spcPts val="0"/>
              </a:spcAft>
              <a:buClr>
                <a:schemeClr val="dk2"/>
              </a:buClr>
              <a:buSzPts val="4200"/>
              <a:buNone/>
              <a:defRPr sz="4200">
                <a:solidFill>
                  <a:schemeClr val="dk2"/>
                </a:solidFill>
              </a:defRPr>
            </a:lvl3pPr>
            <a:lvl4pPr lvl="3" rtl="0" algn="ctr">
              <a:spcBef>
                <a:spcPts val="0"/>
              </a:spcBef>
              <a:spcAft>
                <a:spcPts val="0"/>
              </a:spcAft>
              <a:buClr>
                <a:schemeClr val="dk2"/>
              </a:buClr>
              <a:buSzPts val="4200"/>
              <a:buNone/>
              <a:defRPr sz="4200">
                <a:solidFill>
                  <a:schemeClr val="dk2"/>
                </a:solidFill>
              </a:defRPr>
            </a:lvl4pPr>
            <a:lvl5pPr lvl="4" rtl="0" algn="ctr">
              <a:spcBef>
                <a:spcPts val="0"/>
              </a:spcBef>
              <a:spcAft>
                <a:spcPts val="0"/>
              </a:spcAft>
              <a:buClr>
                <a:schemeClr val="dk2"/>
              </a:buClr>
              <a:buSzPts val="4200"/>
              <a:buNone/>
              <a:defRPr sz="4200">
                <a:solidFill>
                  <a:schemeClr val="dk2"/>
                </a:solidFill>
              </a:defRPr>
            </a:lvl5pPr>
            <a:lvl6pPr lvl="5" rtl="0" algn="ctr">
              <a:spcBef>
                <a:spcPts val="0"/>
              </a:spcBef>
              <a:spcAft>
                <a:spcPts val="0"/>
              </a:spcAft>
              <a:buClr>
                <a:schemeClr val="dk2"/>
              </a:buClr>
              <a:buSzPts val="4200"/>
              <a:buNone/>
              <a:defRPr sz="4200">
                <a:solidFill>
                  <a:schemeClr val="dk2"/>
                </a:solidFill>
              </a:defRPr>
            </a:lvl6pPr>
            <a:lvl7pPr lvl="6" rtl="0" algn="ctr">
              <a:spcBef>
                <a:spcPts val="0"/>
              </a:spcBef>
              <a:spcAft>
                <a:spcPts val="0"/>
              </a:spcAft>
              <a:buClr>
                <a:schemeClr val="dk2"/>
              </a:buClr>
              <a:buSzPts val="4200"/>
              <a:buNone/>
              <a:defRPr sz="4200">
                <a:solidFill>
                  <a:schemeClr val="dk2"/>
                </a:solidFill>
              </a:defRPr>
            </a:lvl7pPr>
            <a:lvl8pPr lvl="7" rtl="0" algn="ctr">
              <a:spcBef>
                <a:spcPts val="0"/>
              </a:spcBef>
              <a:spcAft>
                <a:spcPts val="0"/>
              </a:spcAft>
              <a:buClr>
                <a:schemeClr val="dk2"/>
              </a:buClr>
              <a:buSzPts val="4200"/>
              <a:buNone/>
              <a:defRPr sz="4200">
                <a:solidFill>
                  <a:schemeClr val="dk2"/>
                </a:solidFill>
              </a:defRPr>
            </a:lvl8pPr>
            <a:lvl9pPr lvl="8" rtl="0" algn="ctr">
              <a:spcBef>
                <a:spcPts val="0"/>
              </a:spcBef>
              <a:spcAft>
                <a:spcPts val="0"/>
              </a:spcAft>
              <a:buClr>
                <a:schemeClr val="dk2"/>
              </a:buClr>
              <a:buSzPts val="4200"/>
              <a:buNone/>
              <a:defRPr sz="4200">
                <a:solidFill>
                  <a:schemeClr val="dk2"/>
                </a:solidFill>
              </a:defRPr>
            </a:lvl9pPr>
          </a:lstStyle>
          <a:p/>
        </p:txBody>
      </p:sp>
      <p:sp>
        <p:nvSpPr>
          <p:cNvPr id="251" name="Google Shape;251;p33"/>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52" name="Google Shape;252;p33"/>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253" name="Google Shape;253;p3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4" name="Shape 254"/>
        <p:cNvGrpSpPr/>
        <p:nvPr/>
      </p:nvGrpSpPr>
      <p:grpSpPr>
        <a:xfrm>
          <a:off x="0" y="0"/>
          <a:ext cx="0" cy="0"/>
          <a:chOff x="0" y="0"/>
          <a:chExt cx="0" cy="0"/>
        </a:xfrm>
      </p:grpSpPr>
      <p:sp>
        <p:nvSpPr>
          <p:cNvPr id="255" name="Google Shape;255;p34"/>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4"/>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4"/>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258" name="Google Shape;258;p3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259" name="Shape 259"/>
        <p:cNvGrpSpPr/>
        <p:nvPr/>
      </p:nvGrpSpPr>
      <p:grpSpPr>
        <a:xfrm>
          <a:off x="0" y="0"/>
          <a:ext cx="0" cy="0"/>
          <a:chOff x="0" y="0"/>
          <a:chExt cx="0" cy="0"/>
        </a:xfrm>
      </p:grpSpPr>
      <p:sp>
        <p:nvSpPr>
          <p:cNvPr id="260" name="Google Shape;260;p35"/>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2000"/>
              <a:buNone/>
              <a:defRPr sz="12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261" name="Google Shape;261;p35"/>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262" name="Google Shape;262;p3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263" name="Shape 263"/>
        <p:cNvGrpSpPr/>
        <p:nvPr/>
      </p:nvGrpSpPr>
      <p:grpSpPr>
        <a:xfrm>
          <a:off x="0" y="0"/>
          <a:ext cx="0" cy="0"/>
          <a:chOff x="0" y="0"/>
          <a:chExt cx="0" cy="0"/>
        </a:xfrm>
      </p:grpSpPr>
      <p:sp>
        <p:nvSpPr>
          <p:cNvPr id="264" name="Google Shape;264;p3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130" name="Shape 130"/>
        <p:cNvGrpSpPr/>
        <p:nvPr/>
      </p:nvGrpSpPr>
      <p:grpSpPr>
        <a:xfrm>
          <a:off x="0" y="0"/>
          <a:ext cx="0" cy="0"/>
          <a:chOff x="0" y="0"/>
          <a:chExt cx="0" cy="0"/>
        </a:xfrm>
      </p:grpSpPr>
      <p:sp>
        <p:nvSpPr>
          <p:cNvPr id="131" name="Google Shape;13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32" name="Google Shape;13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33" name="Google Shape;133;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207" name="Shape 207"/>
        <p:cNvGrpSpPr/>
        <p:nvPr/>
      </p:nvGrpSpPr>
      <p:grpSpPr>
        <a:xfrm>
          <a:off x="0" y="0"/>
          <a:ext cx="0" cy="0"/>
          <a:chOff x="0" y="0"/>
          <a:chExt cx="0" cy="0"/>
        </a:xfrm>
      </p:grpSpPr>
      <p:sp>
        <p:nvSpPr>
          <p:cNvPr id="208" name="Google Shape;208;p2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209" name="Google Shape;209;p25"/>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210" name="Google Shape;210;p2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latin typeface="Roboto"/>
                <a:ea typeface="Roboto"/>
                <a:cs typeface="Roboto"/>
                <a:sym typeface="Roboto"/>
              </a:defRPr>
            </a:lvl1pPr>
            <a:lvl2pPr lvl="1" rtl="0" algn="r">
              <a:buNone/>
              <a:defRPr sz="1000">
                <a:solidFill>
                  <a:schemeClr val="lt2"/>
                </a:solidFill>
                <a:latin typeface="Roboto"/>
                <a:ea typeface="Roboto"/>
                <a:cs typeface="Roboto"/>
                <a:sym typeface="Roboto"/>
              </a:defRPr>
            </a:lvl2pPr>
            <a:lvl3pPr lvl="2" rtl="0" algn="r">
              <a:buNone/>
              <a:defRPr sz="1000">
                <a:solidFill>
                  <a:schemeClr val="lt2"/>
                </a:solidFill>
                <a:latin typeface="Roboto"/>
                <a:ea typeface="Roboto"/>
                <a:cs typeface="Roboto"/>
                <a:sym typeface="Roboto"/>
              </a:defRPr>
            </a:lvl3pPr>
            <a:lvl4pPr lvl="3" rtl="0" algn="r">
              <a:buNone/>
              <a:defRPr sz="1000">
                <a:solidFill>
                  <a:schemeClr val="lt2"/>
                </a:solidFill>
                <a:latin typeface="Roboto"/>
                <a:ea typeface="Roboto"/>
                <a:cs typeface="Roboto"/>
                <a:sym typeface="Roboto"/>
              </a:defRPr>
            </a:lvl4pPr>
            <a:lvl5pPr lvl="4" rtl="0" algn="r">
              <a:buNone/>
              <a:defRPr sz="1000">
                <a:solidFill>
                  <a:schemeClr val="lt2"/>
                </a:solidFill>
                <a:latin typeface="Roboto"/>
                <a:ea typeface="Roboto"/>
                <a:cs typeface="Roboto"/>
                <a:sym typeface="Roboto"/>
              </a:defRPr>
            </a:lvl5pPr>
            <a:lvl6pPr lvl="5" rtl="0" algn="r">
              <a:buNone/>
              <a:defRPr sz="1000">
                <a:solidFill>
                  <a:schemeClr val="lt2"/>
                </a:solidFill>
                <a:latin typeface="Roboto"/>
                <a:ea typeface="Roboto"/>
                <a:cs typeface="Roboto"/>
                <a:sym typeface="Roboto"/>
              </a:defRPr>
            </a:lvl6pPr>
            <a:lvl7pPr lvl="6" rtl="0" algn="r">
              <a:buNone/>
              <a:defRPr sz="1000">
                <a:solidFill>
                  <a:schemeClr val="lt2"/>
                </a:solidFill>
                <a:latin typeface="Roboto"/>
                <a:ea typeface="Roboto"/>
                <a:cs typeface="Roboto"/>
                <a:sym typeface="Roboto"/>
              </a:defRPr>
            </a:lvl7pPr>
            <a:lvl8pPr lvl="7" rtl="0" algn="r">
              <a:buNone/>
              <a:defRPr sz="1000">
                <a:solidFill>
                  <a:schemeClr val="lt2"/>
                </a:solidFill>
                <a:latin typeface="Roboto"/>
                <a:ea typeface="Roboto"/>
                <a:cs typeface="Roboto"/>
                <a:sym typeface="Roboto"/>
              </a:defRPr>
            </a:lvl8pPr>
            <a:lvl9pPr lvl="8" rtl="0"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snelluri@uwm.edu" TargetMode="External"/><Relationship Id="rId4" Type="http://schemas.openxmlformats.org/officeDocument/2006/relationships/hyperlink" Target="mailto:sjmehta@uwm.edu" TargetMode="External"/><Relationship Id="rId5" Type="http://schemas.openxmlformats.org/officeDocument/2006/relationships/hyperlink" Target="mailto:mahendr2@uwm.edu" TargetMode="External"/><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type="ctrTitle"/>
          </p:nvPr>
        </p:nvSpPr>
        <p:spPr>
          <a:xfrm>
            <a:off x="3032075" y="86900"/>
            <a:ext cx="6036000" cy="194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t>Enhanced </a:t>
            </a:r>
            <a:r>
              <a:rPr lang="en"/>
              <a:t>Traffic Sign Recognition </a:t>
            </a:r>
            <a:r>
              <a:rPr lang="en"/>
              <a:t>With CNN </a:t>
            </a:r>
            <a:r>
              <a:rPr lang="en"/>
              <a:t>Using Image Processing </a:t>
            </a:r>
            <a:endParaRPr/>
          </a:p>
        </p:txBody>
      </p:sp>
      <p:sp>
        <p:nvSpPr>
          <p:cNvPr id="270" name="Google Shape;270;p37"/>
          <p:cNvSpPr txBox="1"/>
          <p:nvPr>
            <p:ph idx="1" type="subTitle"/>
          </p:nvPr>
        </p:nvSpPr>
        <p:spPr>
          <a:xfrm>
            <a:off x="3971525" y="2630400"/>
            <a:ext cx="5049600" cy="24120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400"/>
              <a:t>Team Members: </a:t>
            </a:r>
            <a:endParaRPr sz="1400"/>
          </a:p>
          <a:p>
            <a:pPr indent="-311150" lvl="0" marL="457200" rtl="0" algn="l">
              <a:lnSpc>
                <a:spcPct val="150000"/>
              </a:lnSpc>
              <a:spcBef>
                <a:spcPts val="0"/>
              </a:spcBef>
              <a:spcAft>
                <a:spcPts val="0"/>
              </a:spcAft>
              <a:buSzPts val="1300"/>
              <a:buAutoNum type="arabicPeriod"/>
            </a:pPr>
            <a:r>
              <a:rPr lang="en"/>
              <a:t>Sai Keerthi Nelluri (</a:t>
            </a:r>
            <a:r>
              <a:rPr lang="en" u="sng">
                <a:solidFill>
                  <a:schemeClr val="hlink"/>
                </a:solidFill>
                <a:hlinkClick r:id="rId3"/>
              </a:rPr>
              <a:t>snelluri@uwm.edu</a:t>
            </a:r>
            <a:r>
              <a:rPr lang="en"/>
              <a:t>)</a:t>
            </a:r>
            <a:endParaRPr/>
          </a:p>
          <a:p>
            <a:pPr indent="-311150" lvl="0" marL="457200" rtl="0" algn="l">
              <a:lnSpc>
                <a:spcPct val="150000"/>
              </a:lnSpc>
              <a:spcBef>
                <a:spcPts val="0"/>
              </a:spcBef>
              <a:spcAft>
                <a:spcPts val="0"/>
              </a:spcAft>
              <a:buSzPts val="1300"/>
              <a:buAutoNum type="arabicPeriod"/>
            </a:pPr>
            <a:r>
              <a:rPr lang="en"/>
              <a:t>Shivam Jayeshkumar Mehta (</a:t>
            </a:r>
            <a:r>
              <a:rPr lang="en" u="sng">
                <a:solidFill>
                  <a:schemeClr val="hlink"/>
                </a:solidFill>
                <a:hlinkClick r:id="rId4"/>
              </a:rPr>
              <a:t>sjmehta@uwm.edu</a:t>
            </a:r>
            <a:r>
              <a:rPr lang="en"/>
              <a:t>)</a:t>
            </a:r>
            <a:endParaRPr/>
          </a:p>
          <a:p>
            <a:pPr indent="-311150" lvl="0" marL="457200" rtl="0" algn="l">
              <a:lnSpc>
                <a:spcPct val="150000"/>
              </a:lnSpc>
              <a:spcBef>
                <a:spcPts val="0"/>
              </a:spcBef>
              <a:spcAft>
                <a:spcPts val="0"/>
              </a:spcAft>
              <a:buSzPts val="1300"/>
              <a:buAutoNum type="arabicPeriod"/>
            </a:pPr>
            <a:r>
              <a:rPr lang="en"/>
              <a:t>Rajesh Mahendran (</a:t>
            </a:r>
            <a:r>
              <a:rPr lang="en" u="sng">
                <a:solidFill>
                  <a:schemeClr val="hlink"/>
                </a:solidFill>
                <a:hlinkClick r:id="rId5"/>
              </a:rPr>
              <a:t>mahendr2@uwm.edu</a:t>
            </a:r>
            <a:r>
              <a:rPr lang="en"/>
              <a:t>)</a:t>
            </a:r>
            <a:endParaRPr/>
          </a:p>
          <a:p>
            <a:pPr indent="0" lvl="0" marL="0" rtl="0" algn="l">
              <a:lnSpc>
                <a:spcPct val="150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71" name="Google Shape;271;p37"/>
          <p:cNvPicPr preferRelativeResize="0"/>
          <p:nvPr/>
        </p:nvPicPr>
        <p:blipFill>
          <a:blip r:embed="rId6">
            <a:alphaModFix/>
          </a:blip>
          <a:stretch>
            <a:fillRect/>
          </a:stretch>
        </p:blipFill>
        <p:spPr>
          <a:xfrm>
            <a:off x="0" y="4154925"/>
            <a:ext cx="1376550" cy="988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txBox="1"/>
          <p:nvPr>
            <p:ph type="title"/>
          </p:nvPr>
        </p:nvSpPr>
        <p:spPr>
          <a:xfrm>
            <a:off x="729450" y="5788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277" name="Google Shape;277;p38"/>
          <p:cNvSpPr txBox="1"/>
          <p:nvPr>
            <p:ph idx="1" type="body"/>
          </p:nvPr>
        </p:nvSpPr>
        <p:spPr>
          <a:xfrm>
            <a:off x="576775" y="1370750"/>
            <a:ext cx="7688700" cy="328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highlight>
                  <a:srgbClr val="FFFFFF"/>
                </a:highlight>
                <a:latin typeface="Arial"/>
                <a:ea typeface="Arial"/>
                <a:cs typeface="Arial"/>
                <a:sym typeface="Arial"/>
              </a:rPr>
              <a:t>O</a:t>
            </a:r>
            <a:r>
              <a:rPr lang="en" sz="1600">
                <a:solidFill>
                  <a:srgbClr val="000000"/>
                </a:solidFill>
                <a:highlight>
                  <a:srgbClr val="FFFFFF"/>
                </a:highlight>
                <a:latin typeface="Arial"/>
                <a:ea typeface="Arial"/>
                <a:cs typeface="Arial"/>
                <a:sym typeface="Arial"/>
              </a:rPr>
              <a:t>ur project aims to develop a  Convolutional Neural Network</a:t>
            </a:r>
            <a:r>
              <a:rPr lang="en" sz="1600">
                <a:solidFill>
                  <a:srgbClr val="000000"/>
                </a:solidFill>
                <a:highlight>
                  <a:srgbClr val="FFFFFF"/>
                </a:highlight>
                <a:latin typeface="Arial"/>
                <a:ea typeface="Arial"/>
                <a:cs typeface="Arial"/>
                <a:sym typeface="Arial"/>
              </a:rPr>
              <a:t>(CNN)</a:t>
            </a:r>
            <a:r>
              <a:rPr lang="en" sz="1600">
                <a:solidFill>
                  <a:srgbClr val="000000"/>
                </a:solidFill>
                <a:highlight>
                  <a:srgbClr val="FFFFFF"/>
                </a:highlight>
                <a:latin typeface="Arial"/>
                <a:ea typeface="Arial"/>
                <a:cs typeface="Arial"/>
                <a:sym typeface="Arial"/>
              </a:rPr>
              <a:t> model for the recognition and classification of traffic signs and then further enhance its accuracy by using Image processing techniques to preprocess the images to .</a:t>
            </a:r>
            <a:endParaRPr sz="1600">
              <a:solidFill>
                <a:srgbClr val="000000"/>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600">
              <a:solidFill>
                <a:srgbClr val="000000"/>
              </a:solidFill>
              <a:highlight>
                <a:srgbClr val="FFFFFF"/>
              </a:highlight>
              <a:latin typeface="Arial"/>
              <a:ea typeface="Arial"/>
              <a:cs typeface="Arial"/>
              <a:sym typeface="Arial"/>
            </a:endParaRPr>
          </a:p>
          <a:p>
            <a:pPr indent="0" lvl="0" marL="0" rtl="0" algn="l">
              <a:spcBef>
                <a:spcPts val="1200"/>
              </a:spcBef>
              <a:spcAft>
                <a:spcPts val="1200"/>
              </a:spcAft>
              <a:buNone/>
            </a:pPr>
            <a:r>
              <a:t/>
            </a:r>
            <a:endParaRPr sz="1600">
              <a:solidFill>
                <a:srgbClr val="000000"/>
              </a:solidFill>
              <a:highlight>
                <a:srgbClr val="FFFFFF"/>
              </a:highlight>
              <a:latin typeface="Arial"/>
              <a:ea typeface="Arial"/>
              <a:cs typeface="Arial"/>
              <a:sym typeface="Arial"/>
            </a:endParaRPr>
          </a:p>
        </p:txBody>
      </p:sp>
      <p:pic>
        <p:nvPicPr>
          <p:cNvPr id="278" name="Google Shape;278;p38"/>
          <p:cNvPicPr preferRelativeResize="0"/>
          <p:nvPr/>
        </p:nvPicPr>
        <p:blipFill>
          <a:blip r:embed="rId3">
            <a:alphaModFix/>
          </a:blip>
          <a:stretch>
            <a:fillRect/>
          </a:stretch>
        </p:blipFill>
        <p:spPr>
          <a:xfrm>
            <a:off x="1949475" y="2712676"/>
            <a:ext cx="5078875" cy="2184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9"/>
          <p:cNvSpPr txBox="1"/>
          <p:nvPr>
            <p:ph type="title"/>
          </p:nvPr>
        </p:nvSpPr>
        <p:spPr>
          <a:xfrm>
            <a:off x="727650" y="5905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latin typeface="Arial"/>
                <a:ea typeface="Arial"/>
                <a:cs typeface="Arial"/>
                <a:sym typeface="Arial"/>
              </a:rPr>
              <a:t>Motivation</a:t>
            </a:r>
            <a:endParaRPr sz="2440">
              <a:latin typeface="Arial"/>
              <a:ea typeface="Arial"/>
              <a:cs typeface="Arial"/>
              <a:sym typeface="Arial"/>
            </a:endParaRPr>
          </a:p>
        </p:txBody>
      </p:sp>
      <p:sp>
        <p:nvSpPr>
          <p:cNvPr id="284" name="Google Shape;284;p39"/>
          <p:cNvSpPr txBox="1"/>
          <p:nvPr>
            <p:ph idx="1" type="body"/>
          </p:nvPr>
        </p:nvSpPr>
        <p:spPr>
          <a:xfrm>
            <a:off x="729450" y="1284700"/>
            <a:ext cx="7688700" cy="348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000000"/>
                </a:solidFill>
                <a:highlight>
                  <a:schemeClr val="lt1"/>
                </a:highlight>
                <a:latin typeface="Arial"/>
                <a:ea typeface="Arial"/>
                <a:cs typeface="Arial"/>
                <a:sym typeface="Arial"/>
              </a:rPr>
              <a:t>Traffic signs manage traffic flow, maintain road safety, and give drivers vital information. Thus, traffic sign identification </a:t>
            </a:r>
            <a:r>
              <a:rPr lang="en" sz="1600">
                <a:solidFill>
                  <a:srgbClr val="000000"/>
                </a:solidFill>
                <a:highlight>
                  <a:schemeClr val="lt1"/>
                </a:highlight>
                <a:latin typeface="Arial"/>
                <a:ea typeface="Arial"/>
                <a:cs typeface="Arial"/>
                <a:sym typeface="Arial"/>
              </a:rPr>
              <a:t>systems</a:t>
            </a:r>
            <a:r>
              <a:rPr lang="en" sz="1600">
                <a:solidFill>
                  <a:srgbClr val="000000"/>
                </a:solidFill>
                <a:highlight>
                  <a:schemeClr val="lt1"/>
                </a:highlight>
                <a:latin typeface="Arial"/>
                <a:ea typeface="Arial"/>
                <a:cs typeface="Arial"/>
                <a:sym typeface="Arial"/>
              </a:rPr>
              <a:t> are becoming more and more essential as the world moves toward more intelligent and automated transportation systems.</a:t>
            </a:r>
            <a:endParaRPr sz="1600">
              <a:solidFill>
                <a:srgbClr val="000000"/>
              </a:solidFill>
              <a:highlight>
                <a:schemeClr val="lt1"/>
              </a:highlight>
              <a:latin typeface="Arial"/>
              <a:ea typeface="Arial"/>
              <a:cs typeface="Arial"/>
              <a:sym typeface="Arial"/>
            </a:endParaRPr>
          </a:p>
          <a:p>
            <a:pPr indent="0" lvl="0" marL="0" rtl="0" algn="l">
              <a:spcBef>
                <a:spcPts val="1200"/>
              </a:spcBef>
              <a:spcAft>
                <a:spcPts val="0"/>
              </a:spcAft>
              <a:buNone/>
            </a:pPr>
            <a:r>
              <a:rPr lang="en" sz="1600">
                <a:solidFill>
                  <a:srgbClr val="000000"/>
                </a:solidFill>
                <a:highlight>
                  <a:schemeClr val="lt1"/>
                </a:highlight>
                <a:latin typeface="Arial"/>
                <a:ea typeface="Arial"/>
                <a:cs typeface="Arial"/>
                <a:sym typeface="Arial"/>
              </a:rPr>
              <a:t>Moreover By leveraging CNNs for traffic sign recognition, we can create more intelligent transportation systems that enhance safety, ensure compliance, and adapt seamlessly to the evolving technological landscape. </a:t>
            </a:r>
            <a:endParaRPr sz="1600">
              <a:solidFill>
                <a:srgbClr val="000000"/>
              </a:solidFill>
              <a:highlight>
                <a:schemeClr val="lt1"/>
              </a:highlight>
              <a:latin typeface="Arial"/>
              <a:ea typeface="Arial"/>
              <a:cs typeface="Arial"/>
              <a:sym typeface="Arial"/>
            </a:endParaRPr>
          </a:p>
          <a:p>
            <a:pPr indent="0" lvl="0" marL="0" rtl="0" algn="l">
              <a:spcBef>
                <a:spcPts val="1200"/>
              </a:spcBef>
              <a:spcAft>
                <a:spcPts val="1200"/>
              </a:spcAft>
              <a:buNone/>
            </a:pPr>
            <a:r>
              <a:rPr lang="en" sz="1600">
                <a:solidFill>
                  <a:srgbClr val="000000"/>
                </a:solidFill>
                <a:highlight>
                  <a:schemeClr val="lt1"/>
                </a:highlight>
                <a:latin typeface="Arial"/>
                <a:ea typeface="Arial"/>
                <a:cs typeface="Arial"/>
                <a:sym typeface="Arial"/>
              </a:rPr>
              <a:t>Additionally by using image processing techniques we can further enhance the accuracy and reliability of the model.</a:t>
            </a:r>
            <a:endParaRPr sz="1600">
              <a:solidFill>
                <a:srgbClr val="000000"/>
              </a:solidFill>
              <a:highlight>
                <a:schemeClr val="lt1"/>
              </a:highlight>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0"/>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it Work?</a:t>
            </a:r>
            <a:endParaRPr/>
          </a:p>
        </p:txBody>
      </p:sp>
      <p:sp>
        <p:nvSpPr>
          <p:cNvPr id="290" name="Google Shape;290;p40"/>
          <p:cNvSpPr txBox="1"/>
          <p:nvPr>
            <p:ph idx="1" type="body"/>
          </p:nvPr>
        </p:nvSpPr>
        <p:spPr>
          <a:xfrm>
            <a:off x="729450" y="1284700"/>
            <a:ext cx="7688700" cy="345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2"/>
                </a:solidFill>
                <a:latin typeface="Arial"/>
                <a:ea typeface="Arial"/>
                <a:cs typeface="Arial"/>
                <a:sym typeface="Arial"/>
              </a:rPr>
              <a:t>We are using a subset of German Traffic Sign Recognition Benchmark (GTSRB) dataset to develop and test our model</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 sz="1600">
                <a:solidFill>
                  <a:schemeClr val="dk2"/>
                </a:solidFill>
                <a:latin typeface="Arial"/>
                <a:ea typeface="Arial"/>
                <a:cs typeface="Arial"/>
                <a:sym typeface="Arial"/>
              </a:rPr>
              <a:t>We are also using tools and technologies like: </a:t>
            </a:r>
            <a:endParaRPr sz="1600">
              <a:solidFill>
                <a:schemeClr val="dk2"/>
              </a:solidFill>
              <a:latin typeface="Arial"/>
              <a:ea typeface="Arial"/>
              <a:cs typeface="Arial"/>
              <a:sym typeface="Arial"/>
            </a:endParaRPr>
          </a:p>
          <a:p>
            <a:pPr indent="-330200" lvl="0" marL="457200" rtl="0" algn="l">
              <a:spcBef>
                <a:spcPts val="1200"/>
              </a:spcBef>
              <a:spcAft>
                <a:spcPts val="0"/>
              </a:spcAft>
              <a:buClr>
                <a:schemeClr val="dk2"/>
              </a:buClr>
              <a:buSzPts val="1600"/>
              <a:buFont typeface="Arial"/>
              <a:buChar char="●"/>
            </a:pPr>
            <a:r>
              <a:rPr lang="en" sz="1600">
                <a:solidFill>
                  <a:schemeClr val="dk2"/>
                </a:solidFill>
                <a:latin typeface="Arial"/>
                <a:ea typeface="Arial"/>
                <a:cs typeface="Arial"/>
                <a:sym typeface="Arial"/>
              </a:rPr>
              <a:t>Python</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TensorFlow</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OpenCV</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Scikit-Learn</a:t>
            </a:r>
            <a:endParaRPr sz="1600">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1"/>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STEP 1: Image Preprocessing</a:t>
            </a:r>
            <a:endParaRPr>
              <a:latin typeface="Arial"/>
              <a:ea typeface="Arial"/>
              <a:cs typeface="Arial"/>
              <a:sym typeface="Arial"/>
            </a:endParaRPr>
          </a:p>
        </p:txBody>
      </p:sp>
      <p:sp>
        <p:nvSpPr>
          <p:cNvPr id="296" name="Google Shape;296;p41"/>
          <p:cNvSpPr txBox="1"/>
          <p:nvPr>
            <p:ph idx="1" type="body"/>
          </p:nvPr>
        </p:nvSpPr>
        <p:spPr>
          <a:xfrm>
            <a:off x="729450" y="1284700"/>
            <a:ext cx="7688700" cy="34524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Conversion to Grayscale:</a:t>
            </a:r>
            <a:endParaRPr b="1"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Reduces image complexity by converting from three color channels to one.</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Enhances computational efficiency focuses learning on the structure and shapes in the images rather than color, which is not critical for traffic sign recognition.</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CLAHE (Contrast Limited Adaptive Histogram Equalization):</a:t>
            </a:r>
            <a:endParaRPr b="1"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Improves image contrast by applying localized histogram equalization.</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Enhances visibility of important features without amplifying noise.</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In simpler words it makes features more distinguishable, which is particularly useful for images with poor lighting conditions.</a:t>
            </a:r>
            <a:endParaRPr sz="1600">
              <a:solidFill>
                <a:schemeClr val="dk2"/>
              </a:solidFill>
              <a:latin typeface="Arial"/>
              <a:ea typeface="Arial"/>
              <a:cs typeface="Arial"/>
              <a:sym typeface="Arial"/>
            </a:endParaRPr>
          </a:p>
          <a:p>
            <a:pPr indent="0" lvl="0" marL="0" rtl="0" algn="l">
              <a:spcBef>
                <a:spcPts val="1200"/>
              </a:spcBef>
              <a:spcAft>
                <a:spcPts val="1200"/>
              </a:spcAft>
              <a:buNone/>
            </a:pPr>
            <a:r>
              <a:t/>
            </a:r>
            <a:endParaRPr sz="1600">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2"/>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STEP 2: Image Filtering</a:t>
            </a:r>
            <a:endParaRPr>
              <a:latin typeface="Arial"/>
              <a:ea typeface="Arial"/>
              <a:cs typeface="Arial"/>
              <a:sym typeface="Arial"/>
            </a:endParaRPr>
          </a:p>
        </p:txBody>
      </p:sp>
      <p:sp>
        <p:nvSpPr>
          <p:cNvPr id="302" name="Google Shape;302;p42"/>
          <p:cNvSpPr txBox="1"/>
          <p:nvPr>
            <p:ph idx="1" type="body"/>
          </p:nvPr>
        </p:nvSpPr>
        <p:spPr>
          <a:xfrm>
            <a:off x="653250" y="1284700"/>
            <a:ext cx="7688700" cy="3452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Filtering:</a:t>
            </a:r>
            <a:r>
              <a:rPr lang="en" sz="1600">
                <a:solidFill>
                  <a:schemeClr val="dk2"/>
                </a:solidFill>
                <a:latin typeface="Arial"/>
                <a:ea typeface="Arial"/>
                <a:cs typeface="Arial"/>
                <a:sym typeface="Arial"/>
              </a:rPr>
              <a:t>This step is performed to further enhance or suppresse specific image features to improve recognition accuracy. It Includes:</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Gaussian filter</a:t>
            </a:r>
            <a:r>
              <a:rPr lang="en" sz="1600">
                <a:solidFill>
                  <a:schemeClr val="dk2"/>
                </a:solidFill>
                <a:latin typeface="Arial"/>
                <a:ea typeface="Arial"/>
                <a:cs typeface="Arial"/>
                <a:sym typeface="Arial"/>
              </a:rPr>
              <a:t> : used to reduce noise and details </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Sobel filters</a:t>
            </a:r>
            <a:r>
              <a:rPr lang="en" sz="1600">
                <a:solidFill>
                  <a:schemeClr val="dk2"/>
                </a:solidFill>
                <a:latin typeface="Arial"/>
                <a:ea typeface="Arial"/>
                <a:cs typeface="Arial"/>
                <a:sym typeface="Arial"/>
              </a:rPr>
              <a:t>: used for edge detection </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Sharpening filter</a:t>
            </a:r>
            <a:r>
              <a:rPr lang="en" sz="1600">
                <a:solidFill>
                  <a:schemeClr val="dk2"/>
                </a:solidFill>
                <a:latin typeface="Arial"/>
                <a:ea typeface="Arial"/>
                <a:cs typeface="Arial"/>
                <a:sym typeface="Arial"/>
              </a:rPr>
              <a:t>: used  to enhance edges</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Normalization: </a:t>
            </a:r>
            <a:r>
              <a:rPr lang="en" sz="1600">
                <a:solidFill>
                  <a:schemeClr val="dk2"/>
                </a:solidFill>
                <a:latin typeface="Arial"/>
                <a:ea typeface="Arial"/>
                <a:cs typeface="Arial"/>
                <a:sym typeface="Arial"/>
              </a:rPr>
              <a:t> Scales pixel values to a range of 0 to 1, facilitating faster convergence during training by ensuring consistent scale across all input features.</a:t>
            </a:r>
            <a:endParaRPr sz="1600">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3"/>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STEP 3:Model Training </a:t>
            </a:r>
            <a:endParaRPr>
              <a:latin typeface="Arial"/>
              <a:ea typeface="Arial"/>
              <a:cs typeface="Arial"/>
              <a:sym typeface="Arial"/>
            </a:endParaRPr>
          </a:p>
        </p:txBody>
      </p:sp>
      <p:sp>
        <p:nvSpPr>
          <p:cNvPr id="308" name="Google Shape;308;p43"/>
          <p:cNvSpPr txBox="1"/>
          <p:nvPr>
            <p:ph idx="1" type="body"/>
          </p:nvPr>
        </p:nvSpPr>
        <p:spPr>
          <a:xfrm>
            <a:off x="653250" y="1284700"/>
            <a:ext cx="7688700" cy="34524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Image Augmentation:</a:t>
            </a:r>
            <a:r>
              <a:rPr lang="en" sz="1600">
                <a:solidFill>
                  <a:schemeClr val="dk2"/>
                </a:solidFill>
                <a:latin typeface="Arial"/>
                <a:ea typeface="Arial"/>
                <a:cs typeface="Arial"/>
                <a:sym typeface="Arial"/>
              </a:rPr>
              <a:t> Includes random rotations and scaling to introduce variability into the dataset, simulating different angles and distances from which signs might be viewed </a:t>
            </a:r>
            <a:r>
              <a:rPr lang="en" sz="1600">
                <a:solidFill>
                  <a:schemeClr val="dk2"/>
                </a:solidFill>
                <a:latin typeface="Arial"/>
                <a:ea typeface="Arial"/>
                <a:cs typeface="Arial"/>
                <a:sym typeface="Arial"/>
              </a:rPr>
              <a:t>mimicking</a:t>
            </a:r>
            <a:r>
              <a:rPr lang="en" sz="1600">
                <a:solidFill>
                  <a:schemeClr val="dk2"/>
                </a:solidFill>
                <a:latin typeface="Arial"/>
                <a:ea typeface="Arial"/>
                <a:cs typeface="Arial"/>
                <a:sym typeface="Arial"/>
              </a:rPr>
              <a:t> real-life conditions. Which increases the robustness of the model.</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CNN Model: </a:t>
            </a:r>
            <a:r>
              <a:rPr lang="en" sz="1600">
                <a:solidFill>
                  <a:schemeClr val="dk2"/>
                </a:solidFill>
                <a:latin typeface="Arial"/>
                <a:ea typeface="Arial"/>
                <a:cs typeface="Arial"/>
                <a:sym typeface="Arial"/>
              </a:rPr>
              <a:t>this is where we design a neural network architecture that can effectively learn to classify traffic signs from images. It includes: </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Convolutional Layers</a:t>
            </a:r>
            <a:r>
              <a:rPr lang="en" sz="1600">
                <a:solidFill>
                  <a:schemeClr val="dk2"/>
                </a:solidFill>
                <a:latin typeface="Arial"/>
                <a:ea typeface="Arial"/>
                <a:cs typeface="Arial"/>
                <a:sym typeface="Arial"/>
              </a:rPr>
              <a:t>: which applies multiple convolutional layers with filters to extract features from the </a:t>
            </a:r>
            <a:r>
              <a:rPr lang="en" sz="1600">
                <a:solidFill>
                  <a:schemeClr val="dk2"/>
                </a:solidFill>
                <a:latin typeface="Arial"/>
                <a:ea typeface="Arial"/>
                <a:cs typeface="Arial"/>
                <a:sym typeface="Arial"/>
              </a:rPr>
              <a:t>input</a:t>
            </a:r>
            <a:r>
              <a:rPr lang="en" sz="1600">
                <a:solidFill>
                  <a:schemeClr val="dk2"/>
                </a:solidFill>
                <a:latin typeface="Arial"/>
                <a:ea typeface="Arial"/>
                <a:cs typeface="Arial"/>
                <a:sym typeface="Arial"/>
              </a:rPr>
              <a:t> images</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Pooling Layers:</a:t>
            </a:r>
            <a:r>
              <a:rPr lang="en" sz="1600">
                <a:solidFill>
                  <a:schemeClr val="dk2"/>
                </a:solidFill>
                <a:latin typeface="Arial"/>
                <a:ea typeface="Arial"/>
                <a:cs typeface="Arial"/>
                <a:sym typeface="Arial"/>
              </a:rPr>
              <a:t> they reduce spatial dimensions of images and reduce computational complexity and normalizing inputs for efficient learning.</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Dropout:</a:t>
            </a:r>
            <a:r>
              <a:rPr lang="en" sz="1600">
                <a:solidFill>
                  <a:schemeClr val="dk2"/>
                </a:solidFill>
                <a:latin typeface="Arial"/>
                <a:ea typeface="Arial"/>
                <a:cs typeface="Arial"/>
                <a:sym typeface="Arial"/>
              </a:rPr>
              <a:t> Integrating dropouts of data to prevent overfitting in the model.</a:t>
            </a:r>
            <a:endParaRPr sz="1600">
              <a:solidFill>
                <a:schemeClr val="dk2"/>
              </a:solidFill>
              <a:latin typeface="Arial"/>
              <a:ea typeface="Arial"/>
              <a:cs typeface="Arial"/>
              <a:sym typeface="Arial"/>
            </a:endParaRPr>
          </a:p>
          <a:p>
            <a:pPr indent="-330200" lvl="1" marL="914400" rtl="0" algn="l">
              <a:spcBef>
                <a:spcPts val="0"/>
              </a:spcBef>
              <a:spcAft>
                <a:spcPts val="0"/>
              </a:spcAft>
              <a:buClr>
                <a:schemeClr val="dk2"/>
              </a:buClr>
              <a:buSzPts val="1600"/>
              <a:buFont typeface="Arial"/>
              <a:buChar char="○"/>
            </a:pPr>
            <a:r>
              <a:rPr lang="en" sz="1600" u="sng">
                <a:solidFill>
                  <a:schemeClr val="dk2"/>
                </a:solidFill>
                <a:latin typeface="Arial"/>
                <a:ea typeface="Arial"/>
                <a:cs typeface="Arial"/>
                <a:sym typeface="Arial"/>
              </a:rPr>
              <a:t>Output Layer:</a:t>
            </a:r>
            <a:r>
              <a:rPr lang="en" sz="1600">
                <a:solidFill>
                  <a:schemeClr val="dk2"/>
                </a:solidFill>
                <a:latin typeface="Arial"/>
                <a:ea typeface="Arial"/>
                <a:cs typeface="Arial"/>
                <a:sym typeface="Arial"/>
              </a:rPr>
              <a:t> uses flatten and dense layers for multi-class classification of traffic signs.</a:t>
            </a:r>
            <a:endParaRPr sz="1600">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4"/>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CNN - Model Diagram</a:t>
            </a:r>
            <a:r>
              <a:rPr lang="en">
                <a:latin typeface="Arial"/>
                <a:ea typeface="Arial"/>
                <a:cs typeface="Arial"/>
                <a:sym typeface="Arial"/>
              </a:rPr>
              <a:t> </a:t>
            </a:r>
            <a:endParaRPr>
              <a:latin typeface="Arial"/>
              <a:ea typeface="Arial"/>
              <a:cs typeface="Arial"/>
              <a:sym typeface="Arial"/>
            </a:endParaRPr>
          </a:p>
        </p:txBody>
      </p:sp>
      <p:pic>
        <p:nvPicPr>
          <p:cNvPr id="314" name="Google Shape;314;p44"/>
          <p:cNvPicPr preferRelativeResize="0"/>
          <p:nvPr/>
        </p:nvPicPr>
        <p:blipFill>
          <a:blip r:embed="rId3">
            <a:alphaModFix/>
          </a:blip>
          <a:stretch>
            <a:fillRect/>
          </a:stretch>
        </p:blipFill>
        <p:spPr>
          <a:xfrm>
            <a:off x="81950" y="1407350"/>
            <a:ext cx="8839201" cy="3564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5"/>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ial"/>
                <a:ea typeface="Arial"/>
                <a:cs typeface="Arial"/>
                <a:sym typeface="Arial"/>
              </a:rPr>
              <a:t>CODE OVERVIEW</a:t>
            </a:r>
            <a:r>
              <a:rPr lang="en">
                <a:latin typeface="Arial"/>
                <a:ea typeface="Arial"/>
                <a:cs typeface="Arial"/>
                <a:sym typeface="Arial"/>
              </a:rPr>
              <a:t> </a:t>
            </a:r>
            <a:endParaRPr>
              <a:latin typeface="Arial"/>
              <a:ea typeface="Arial"/>
              <a:cs typeface="Arial"/>
              <a:sym typeface="Arial"/>
            </a:endParaRPr>
          </a:p>
        </p:txBody>
      </p:sp>
      <p:sp>
        <p:nvSpPr>
          <p:cNvPr id="320" name="Google Shape;320;p45"/>
          <p:cNvSpPr txBox="1"/>
          <p:nvPr>
            <p:ph idx="1" type="body"/>
          </p:nvPr>
        </p:nvSpPr>
        <p:spPr>
          <a:xfrm>
            <a:off x="727650" y="1284688"/>
            <a:ext cx="7688700" cy="42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600">
                <a:solidFill>
                  <a:schemeClr val="dk2"/>
                </a:solidFill>
                <a:latin typeface="Arial"/>
                <a:ea typeface="Arial"/>
                <a:cs typeface="Arial"/>
                <a:sym typeface="Arial"/>
              </a:rPr>
              <a:t>Regular version</a:t>
            </a:r>
            <a:endParaRPr sz="1600">
              <a:solidFill>
                <a:schemeClr val="dk2"/>
              </a:solidFill>
              <a:latin typeface="Arial"/>
              <a:ea typeface="Arial"/>
              <a:cs typeface="Arial"/>
              <a:sym typeface="Arial"/>
            </a:endParaRPr>
          </a:p>
        </p:txBody>
      </p:sp>
      <p:sp>
        <p:nvSpPr>
          <p:cNvPr id="321" name="Google Shape;321;p45"/>
          <p:cNvSpPr/>
          <p:nvPr/>
        </p:nvSpPr>
        <p:spPr>
          <a:xfrm>
            <a:off x="727650" y="1707400"/>
            <a:ext cx="1221300" cy="85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highlight>
                  <a:schemeClr val="lt2"/>
                </a:highlight>
                <a:latin typeface="Lato"/>
                <a:ea typeface="Lato"/>
                <a:cs typeface="Lato"/>
                <a:sym typeface="Lato"/>
              </a:rPr>
              <a:t>Load </a:t>
            </a:r>
            <a:endParaRPr>
              <a:highlight>
                <a:schemeClr val="lt2"/>
              </a:highlight>
              <a:latin typeface="Lato"/>
              <a:ea typeface="Lato"/>
              <a:cs typeface="Lato"/>
              <a:sym typeface="Lato"/>
            </a:endParaRPr>
          </a:p>
          <a:p>
            <a:pPr indent="0" lvl="0" marL="0" rtl="0" algn="l">
              <a:spcBef>
                <a:spcPts val="0"/>
              </a:spcBef>
              <a:spcAft>
                <a:spcPts val="0"/>
              </a:spcAft>
              <a:buNone/>
            </a:pPr>
            <a:r>
              <a:rPr lang="en">
                <a:highlight>
                  <a:schemeClr val="lt2"/>
                </a:highlight>
                <a:latin typeface="Lato"/>
                <a:ea typeface="Lato"/>
                <a:cs typeface="Lato"/>
                <a:sym typeface="Lato"/>
              </a:rPr>
              <a:t>Image  Dataset</a:t>
            </a:r>
            <a:endParaRPr>
              <a:highlight>
                <a:schemeClr val="lt2"/>
              </a:highlight>
              <a:latin typeface="Lato"/>
              <a:ea typeface="Lato"/>
              <a:cs typeface="Lato"/>
              <a:sym typeface="Lato"/>
            </a:endParaRPr>
          </a:p>
        </p:txBody>
      </p:sp>
      <p:sp>
        <p:nvSpPr>
          <p:cNvPr id="322" name="Google Shape;322;p45"/>
          <p:cNvSpPr/>
          <p:nvPr/>
        </p:nvSpPr>
        <p:spPr>
          <a:xfrm>
            <a:off x="2277625" y="1707400"/>
            <a:ext cx="2454600" cy="85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Image preprocessing</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Grayscale conversion</a:t>
            </a:r>
            <a:endParaRPr>
              <a:latin typeface="Lato"/>
              <a:ea typeface="Lato"/>
              <a:cs typeface="Lato"/>
              <a:sym typeface="Lato"/>
            </a:endParaRPr>
          </a:p>
        </p:txBody>
      </p:sp>
      <p:cxnSp>
        <p:nvCxnSpPr>
          <p:cNvPr id="323" name="Google Shape;323;p45"/>
          <p:cNvCxnSpPr>
            <a:stCxn id="321" idx="3"/>
            <a:endCxn id="322" idx="1"/>
          </p:cNvCxnSpPr>
          <p:nvPr/>
        </p:nvCxnSpPr>
        <p:spPr>
          <a:xfrm>
            <a:off x="1948950" y="2136100"/>
            <a:ext cx="328800" cy="0"/>
          </a:xfrm>
          <a:prstGeom prst="straightConnector1">
            <a:avLst/>
          </a:prstGeom>
          <a:noFill/>
          <a:ln cap="flat" cmpd="sng" w="9525">
            <a:solidFill>
              <a:schemeClr val="dk2"/>
            </a:solidFill>
            <a:prstDash val="solid"/>
            <a:round/>
            <a:headEnd len="med" w="med" type="none"/>
            <a:tailEnd len="med" w="med" type="triangle"/>
          </a:ln>
        </p:spPr>
      </p:cxnSp>
      <p:sp>
        <p:nvSpPr>
          <p:cNvPr id="324" name="Google Shape;324;p45"/>
          <p:cNvSpPr/>
          <p:nvPr/>
        </p:nvSpPr>
        <p:spPr>
          <a:xfrm>
            <a:off x="5119350" y="1707400"/>
            <a:ext cx="1221300" cy="85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Model </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Training</a:t>
            </a:r>
            <a:endParaRPr>
              <a:latin typeface="Lato"/>
              <a:ea typeface="Lato"/>
              <a:cs typeface="Lato"/>
              <a:sym typeface="Lato"/>
            </a:endParaRPr>
          </a:p>
        </p:txBody>
      </p:sp>
      <p:cxnSp>
        <p:nvCxnSpPr>
          <p:cNvPr id="325" name="Google Shape;325;p45"/>
          <p:cNvCxnSpPr>
            <a:stCxn id="322" idx="3"/>
            <a:endCxn id="324" idx="1"/>
          </p:cNvCxnSpPr>
          <p:nvPr/>
        </p:nvCxnSpPr>
        <p:spPr>
          <a:xfrm>
            <a:off x="4732225" y="2136100"/>
            <a:ext cx="387000" cy="0"/>
          </a:xfrm>
          <a:prstGeom prst="straightConnector1">
            <a:avLst/>
          </a:prstGeom>
          <a:noFill/>
          <a:ln cap="flat" cmpd="sng" w="9525">
            <a:solidFill>
              <a:schemeClr val="dk2"/>
            </a:solidFill>
            <a:prstDash val="solid"/>
            <a:round/>
            <a:headEnd len="med" w="med" type="none"/>
            <a:tailEnd len="med" w="med" type="triangle"/>
          </a:ln>
        </p:spPr>
      </p:cxnSp>
      <p:sp>
        <p:nvSpPr>
          <p:cNvPr id="326" name="Google Shape;326;p45"/>
          <p:cNvSpPr txBox="1"/>
          <p:nvPr>
            <p:ph idx="1" type="body"/>
          </p:nvPr>
        </p:nvSpPr>
        <p:spPr>
          <a:xfrm>
            <a:off x="727650" y="2764075"/>
            <a:ext cx="7688700" cy="42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600">
                <a:solidFill>
                  <a:schemeClr val="dk2"/>
                </a:solidFill>
                <a:latin typeface="Arial"/>
                <a:ea typeface="Arial"/>
                <a:cs typeface="Arial"/>
                <a:sym typeface="Arial"/>
              </a:rPr>
              <a:t>Enhanced version:</a:t>
            </a:r>
            <a:endParaRPr sz="1600">
              <a:solidFill>
                <a:schemeClr val="dk2"/>
              </a:solidFill>
              <a:latin typeface="Arial"/>
              <a:ea typeface="Arial"/>
              <a:cs typeface="Arial"/>
              <a:sym typeface="Arial"/>
            </a:endParaRPr>
          </a:p>
        </p:txBody>
      </p:sp>
      <p:sp>
        <p:nvSpPr>
          <p:cNvPr id="327" name="Google Shape;327;p45"/>
          <p:cNvSpPr/>
          <p:nvPr/>
        </p:nvSpPr>
        <p:spPr>
          <a:xfrm>
            <a:off x="802050" y="3280725"/>
            <a:ext cx="914700" cy="128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highlight>
                  <a:schemeClr val="lt2"/>
                </a:highlight>
                <a:latin typeface="Lato"/>
                <a:ea typeface="Lato"/>
                <a:cs typeface="Lato"/>
                <a:sym typeface="Lato"/>
              </a:rPr>
              <a:t>Load </a:t>
            </a:r>
            <a:endParaRPr>
              <a:highlight>
                <a:schemeClr val="lt2"/>
              </a:highlight>
              <a:latin typeface="Lato"/>
              <a:ea typeface="Lato"/>
              <a:cs typeface="Lato"/>
              <a:sym typeface="Lato"/>
            </a:endParaRPr>
          </a:p>
          <a:p>
            <a:pPr indent="0" lvl="0" marL="0" rtl="0" algn="l">
              <a:spcBef>
                <a:spcPts val="0"/>
              </a:spcBef>
              <a:spcAft>
                <a:spcPts val="0"/>
              </a:spcAft>
              <a:buNone/>
            </a:pPr>
            <a:r>
              <a:rPr lang="en">
                <a:highlight>
                  <a:schemeClr val="lt2"/>
                </a:highlight>
                <a:latin typeface="Lato"/>
                <a:ea typeface="Lato"/>
                <a:cs typeface="Lato"/>
                <a:sym typeface="Lato"/>
              </a:rPr>
              <a:t>Image  Dataset</a:t>
            </a:r>
            <a:endParaRPr>
              <a:highlight>
                <a:schemeClr val="lt2"/>
              </a:highlight>
              <a:latin typeface="Lato"/>
              <a:ea typeface="Lato"/>
              <a:cs typeface="Lato"/>
              <a:sym typeface="Lato"/>
            </a:endParaRPr>
          </a:p>
        </p:txBody>
      </p:sp>
      <p:sp>
        <p:nvSpPr>
          <p:cNvPr id="328" name="Google Shape;328;p45"/>
          <p:cNvSpPr/>
          <p:nvPr/>
        </p:nvSpPr>
        <p:spPr>
          <a:xfrm>
            <a:off x="2117400" y="3280725"/>
            <a:ext cx="2065500" cy="128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Image preprocessing</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Grayscale conversion</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CLAHE </a:t>
            </a:r>
            <a:endParaRPr>
              <a:latin typeface="Lato"/>
              <a:ea typeface="Lato"/>
              <a:cs typeface="Lato"/>
              <a:sym typeface="Lato"/>
            </a:endParaRPr>
          </a:p>
        </p:txBody>
      </p:sp>
      <p:cxnSp>
        <p:nvCxnSpPr>
          <p:cNvPr id="329" name="Google Shape;329;p45"/>
          <p:cNvCxnSpPr>
            <a:stCxn id="327" idx="3"/>
            <a:endCxn id="328" idx="1"/>
          </p:cNvCxnSpPr>
          <p:nvPr/>
        </p:nvCxnSpPr>
        <p:spPr>
          <a:xfrm>
            <a:off x="1716750" y="3920925"/>
            <a:ext cx="400800" cy="0"/>
          </a:xfrm>
          <a:prstGeom prst="straightConnector1">
            <a:avLst/>
          </a:prstGeom>
          <a:noFill/>
          <a:ln cap="flat" cmpd="sng" w="9525">
            <a:solidFill>
              <a:schemeClr val="dk2"/>
            </a:solidFill>
            <a:prstDash val="solid"/>
            <a:round/>
            <a:headEnd len="med" w="med" type="none"/>
            <a:tailEnd len="med" w="med" type="triangle"/>
          </a:ln>
        </p:spPr>
      </p:cxnSp>
      <p:sp>
        <p:nvSpPr>
          <p:cNvPr id="330" name="Google Shape;330;p45"/>
          <p:cNvSpPr/>
          <p:nvPr/>
        </p:nvSpPr>
        <p:spPr>
          <a:xfrm>
            <a:off x="4688325" y="3280725"/>
            <a:ext cx="2289600" cy="128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Image Filtering</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Gaussian filter</a:t>
            </a:r>
            <a:r>
              <a:rPr lang="en">
                <a:latin typeface="Lato"/>
                <a:ea typeface="Lato"/>
                <a:cs typeface="Lato"/>
                <a:sym typeface="Lato"/>
              </a:rPr>
              <a:t> +</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Sobel filter +</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Sharpening</a:t>
            </a:r>
            <a:r>
              <a:rPr lang="en">
                <a:latin typeface="Lato"/>
                <a:ea typeface="Lato"/>
                <a:cs typeface="Lato"/>
                <a:sym typeface="Lato"/>
              </a:rPr>
              <a:t> filter</a:t>
            </a:r>
            <a:endParaRPr>
              <a:latin typeface="Lato"/>
              <a:ea typeface="Lato"/>
              <a:cs typeface="Lato"/>
              <a:sym typeface="Lato"/>
            </a:endParaRPr>
          </a:p>
        </p:txBody>
      </p:sp>
      <p:cxnSp>
        <p:nvCxnSpPr>
          <p:cNvPr id="331" name="Google Shape;331;p45"/>
          <p:cNvCxnSpPr>
            <a:stCxn id="328" idx="3"/>
            <a:endCxn id="330" idx="1"/>
          </p:cNvCxnSpPr>
          <p:nvPr/>
        </p:nvCxnSpPr>
        <p:spPr>
          <a:xfrm>
            <a:off x="4182900" y="3920925"/>
            <a:ext cx="505500" cy="0"/>
          </a:xfrm>
          <a:prstGeom prst="straightConnector1">
            <a:avLst/>
          </a:prstGeom>
          <a:noFill/>
          <a:ln cap="flat" cmpd="sng" w="9525">
            <a:solidFill>
              <a:schemeClr val="dk2"/>
            </a:solidFill>
            <a:prstDash val="solid"/>
            <a:round/>
            <a:headEnd len="med" w="med" type="none"/>
            <a:tailEnd len="med" w="med" type="triangle"/>
          </a:ln>
        </p:spPr>
      </p:cxnSp>
      <p:sp>
        <p:nvSpPr>
          <p:cNvPr id="332" name="Google Shape;332;p45"/>
          <p:cNvSpPr/>
          <p:nvPr/>
        </p:nvSpPr>
        <p:spPr>
          <a:xfrm>
            <a:off x="7351650" y="3280725"/>
            <a:ext cx="1221300" cy="128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Model </a:t>
            </a:r>
            <a:endParaRPr>
              <a:latin typeface="Lato"/>
              <a:ea typeface="Lato"/>
              <a:cs typeface="Lato"/>
              <a:sym typeface="Lato"/>
            </a:endParaRPr>
          </a:p>
          <a:p>
            <a:pPr indent="0" lvl="0" marL="0" rtl="0" algn="ctr">
              <a:spcBef>
                <a:spcPts val="0"/>
              </a:spcBef>
              <a:spcAft>
                <a:spcPts val="0"/>
              </a:spcAft>
              <a:buNone/>
            </a:pPr>
            <a:r>
              <a:rPr lang="en">
                <a:latin typeface="Lato"/>
                <a:ea typeface="Lato"/>
                <a:cs typeface="Lato"/>
                <a:sym typeface="Lato"/>
              </a:rPr>
              <a:t>Training</a:t>
            </a:r>
            <a:endParaRPr>
              <a:latin typeface="Lato"/>
              <a:ea typeface="Lato"/>
              <a:cs typeface="Lato"/>
              <a:sym typeface="Lato"/>
            </a:endParaRPr>
          </a:p>
        </p:txBody>
      </p:sp>
      <p:cxnSp>
        <p:nvCxnSpPr>
          <p:cNvPr id="333" name="Google Shape;333;p45"/>
          <p:cNvCxnSpPr>
            <a:stCxn id="330" idx="3"/>
            <a:endCxn id="332" idx="1"/>
          </p:cNvCxnSpPr>
          <p:nvPr/>
        </p:nvCxnSpPr>
        <p:spPr>
          <a:xfrm>
            <a:off x="6977925" y="3920925"/>
            <a:ext cx="3738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6"/>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t>
            </a:r>
            <a:endParaRPr/>
          </a:p>
        </p:txBody>
      </p:sp>
      <p:sp>
        <p:nvSpPr>
          <p:cNvPr id="339" name="Google Shape;339;p46"/>
          <p:cNvSpPr txBox="1"/>
          <p:nvPr>
            <p:ph idx="1" type="body"/>
          </p:nvPr>
        </p:nvSpPr>
        <p:spPr>
          <a:xfrm>
            <a:off x="727650" y="1284700"/>
            <a:ext cx="7688700" cy="61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800">
                <a:solidFill>
                  <a:schemeClr val="dk2"/>
                </a:solidFill>
                <a:latin typeface="Arial"/>
                <a:ea typeface="Arial"/>
                <a:cs typeface="Arial"/>
                <a:sym typeface="Arial"/>
              </a:rPr>
              <a:t>Without using filters: </a:t>
            </a:r>
            <a:r>
              <a:rPr b="1" lang="en" sz="1800">
                <a:solidFill>
                  <a:schemeClr val="dk2"/>
                </a:solidFill>
                <a:latin typeface="Arial"/>
                <a:ea typeface="Arial"/>
                <a:cs typeface="Arial"/>
                <a:sym typeface="Arial"/>
              </a:rPr>
              <a:t> At Epoch 25 , accuracy is 93% </a:t>
            </a:r>
            <a:endParaRPr b="1" sz="1800">
              <a:solidFill>
                <a:schemeClr val="dk2"/>
              </a:solidFill>
              <a:latin typeface="Arial"/>
              <a:ea typeface="Arial"/>
              <a:cs typeface="Arial"/>
              <a:sym typeface="Arial"/>
            </a:endParaRPr>
          </a:p>
        </p:txBody>
      </p:sp>
      <p:pic>
        <p:nvPicPr>
          <p:cNvPr id="340" name="Google Shape;340;p46"/>
          <p:cNvPicPr preferRelativeResize="0"/>
          <p:nvPr/>
        </p:nvPicPr>
        <p:blipFill>
          <a:blip r:embed="rId3">
            <a:alphaModFix/>
          </a:blip>
          <a:stretch>
            <a:fillRect/>
          </a:stretch>
        </p:blipFill>
        <p:spPr>
          <a:xfrm>
            <a:off x="797650" y="1689425"/>
            <a:ext cx="6506900" cy="3169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7"/>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t>
            </a:r>
            <a:endParaRPr/>
          </a:p>
        </p:txBody>
      </p:sp>
      <p:sp>
        <p:nvSpPr>
          <p:cNvPr id="346" name="Google Shape;346;p47"/>
          <p:cNvSpPr txBox="1"/>
          <p:nvPr>
            <p:ph idx="1" type="body"/>
          </p:nvPr>
        </p:nvSpPr>
        <p:spPr>
          <a:xfrm>
            <a:off x="779650" y="1293475"/>
            <a:ext cx="7688700" cy="61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800">
                <a:solidFill>
                  <a:schemeClr val="dk2"/>
                </a:solidFill>
                <a:latin typeface="Arial"/>
                <a:ea typeface="Arial"/>
                <a:cs typeface="Arial"/>
                <a:sym typeface="Arial"/>
              </a:rPr>
              <a:t>Using filters:  At Epoch 2</a:t>
            </a:r>
            <a:r>
              <a:rPr b="1" lang="en" sz="1800">
                <a:solidFill>
                  <a:schemeClr val="dk2"/>
                </a:solidFill>
                <a:latin typeface="Arial"/>
                <a:ea typeface="Arial"/>
                <a:cs typeface="Arial"/>
                <a:sym typeface="Arial"/>
              </a:rPr>
              <a:t>5</a:t>
            </a:r>
            <a:r>
              <a:rPr b="1" lang="en" sz="1800">
                <a:solidFill>
                  <a:schemeClr val="dk2"/>
                </a:solidFill>
                <a:latin typeface="Arial"/>
                <a:ea typeface="Arial"/>
                <a:cs typeface="Arial"/>
                <a:sym typeface="Arial"/>
              </a:rPr>
              <a:t> , accuracy is 96% </a:t>
            </a:r>
            <a:endParaRPr b="1" sz="1800">
              <a:solidFill>
                <a:schemeClr val="dk2"/>
              </a:solidFill>
              <a:latin typeface="Arial"/>
              <a:ea typeface="Arial"/>
              <a:cs typeface="Arial"/>
              <a:sym typeface="Arial"/>
            </a:endParaRPr>
          </a:p>
        </p:txBody>
      </p:sp>
      <p:pic>
        <p:nvPicPr>
          <p:cNvPr id="347" name="Google Shape;347;p47"/>
          <p:cNvPicPr preferRelativeResize="0"/>
          <p:nvPr/>
        </p:nvPicPr>
        <p:blipFill>
          <a:blip r:embed="rId3">
            <a:alphaModFix/>
          </a:blip>
          <a:stretch>
            <a:fillRect/>
          </a:stretch>
        </p:blipFill>
        <p:spPr>
          <a:xfrm>
            <a:off x="831650" y="1743175"/>
            <a:ext cx="7584701" cy="3174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8"/>
          <p:cNvSpPr txBox="1"/>
          <p:nvPr>
            <p:ph type="title"/>
          </p:nvPr>
        </p:nvSpPr>
        <p:spPr>
          <a:xfrm>
            <a:off x="727650" y="5905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latin typeface="Arial"/>
                <a:ea typeface="Arial"/>
                <a:cs typeface="Arial"/>
                <a:sym typeface="Arial"/>
              </a:rPr>
              <a:t>Applications</a:t>
            </a:r>
            <a:endParaRPr sz="2440">
              <a:latin typeface="Arial"/>
              <a:ea typeface="Arial"/>
              <a:cs typeface="Arial"/>
              <a:sym typeface="Arial"/>
            </a:endParaRPr>
          </a:p>
        </p:txBody>
      </p:sp>
      <p:sp>
        <p:nvSpPr>
          <p:cNvPr id="353" name="Google Shape;353;p48"/>
          <p:cNvSpPr txBox="1"/>
          <p:nvPr>
            <p:ph idx="1" type="body"/>
          </p:nvPr>
        </p:nvSpPr>
        <p:spPr>
          <a:xfrm>
            <a:off x="237200" y="1284700"/>
            <a:ext cx="8549100" cy="3663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Autonomous Vehicles: </a:t>
            </a:r>
            <a:r>
              <a:rPr lang="en" sz="1600">
                <a:solidFill>
                  <a:schemeClr val="dk2"/>
                </a:solidFill>
                <a:latin typeface="Arial"/>
                <a:ea typeface="Arial"/>
                <a:cs typeface="Arial"/>
                <a:sym typeface="Arial"/>
              </a:rPr>
              <a:t>One of the most direct applications is in the development of autonomous where effective traffic sign recognition is crucial for these vehicles to navigate roads safely and adhere to local traffic laws.</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Driver Assistance Systems:</a:t>
            </a:r>
            <a:r>
              <a:rPr lang="en" sz="1600">
                <a:solidFill>
                  <a:schemeClr val="dk2"/>
                </a:solidFill>
                <a:latin typeface="Arial"/>
                <a:ea typeface="Arial"/>
                <a:cs typeface="Arial"/>
                <a:sym typeface="Arial"/>
              </a:rPr>
              <a:t> For vehicles that are not fully autonomous, traffic sign recognition can enhance driver assistance systems such as adaptive cruise control, lane keeping assistance, and speed alert systems.</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Traffic Law Enforcement and Compliance: </a:t>
            </a:r>
            <a:r>
              <a:rPr lang="en" sz="1600">
                <a:solidFill>
                  <a:schemeClr val="dk2"/>
                </a:solidFill>
                <a:latin typeface="Arial"/>
                <a:ea typeface="Arial"/>
                <a:cs typeface="Arial"/>
                <a:sym typeface="Arial"/>
              </a:rPr>
              <a:t>Traffic sign recognition can be used in mobile or stationary systems to monitor compliance with traffic signs, assisting law enforcement in identifying violations like ignoring stop signs or speeding. </a:t>
            </a:r>
            <a:endParaRPr sz="1600">
              <a:solidFill>
                <a:schemeClr val="dk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9"/>
          <p:cNvSpPr txBox="1"/>
          <p:nvPr>
            <p:ph type="title"/>
          </p:nvPr>
        </p:nvSpPr>
        <p:spPr>
          <a:xfrm>
            <a:off x="727650" y="5905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40">
                <a:latin typeface="Arial"/>
                <a:ea typeface="Arial"/>
                <a:cs typeface="Arial"/>
                <a:sym typeface="Arial"/>
              </a:rPr>
              <a:t>Applications</a:t>
            </a:r>
            <a:endParaRPr sz="2440">
              <a:latin typeface="Arial"/>
              <a:ea typeface="Arial"/>
              <a:cs typeface="Arial"/>
              <a:sym typeface="Arial"/>
            </a:endParaRPr>
          </a:p>
        </p:txBody>
      </p:sp>
      <p:sp>
        <p:nvSpPr>
          <p:cNvPr id="359" name="Google Shape;359;p49"/>
          <p:cNvSpPr txBox="1"/>
          <p:nvPr>
            <p:ph idx="1" type="body"/>
          </p:nvPr>
        </p:nvSpPr>
        <p:spPr>
          <a:xfrm>
            <a:off x="237200" y="1284700"/>
            <a:ext cx="8549100" cy="3663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Educational Tools and Simulations: </a:t>
            </a:r>
            <a:r>
              <a:rPr lang="en" sz="1600">
                <a:solidFill>
                  <a:schemeClr val="dk2"/>
                </a:solidFill>
                <a:latin typeface="Arial"/>
                <a:ea typeface="Arial"/>
                <a:cs typeface="Arial"/>
                <a:sym typeface="Arial"/>
              </a:rPr>
              <a:t>In driver education, traffic sign recognition systems can be used within driving simulators to train and test new drivers on their ability to observe and respond to traffic signs under various conditions. Moreover, advanced driving simulators can use traffic sign recognition to evaluate a driver's response to various road signs under simulated conditions.</a:t>
            </a:r>
            <a:endParaRPr sz="1600">
              <a:solidFill>
                <a:schemeClr val="dk2"/>
              </a:solidFill>
              <a:latin typeface="Arial"/>
              <a:ea typeface="Arial"/>
              <a:cs typeface="Arial"/>
              <a:sym typeface="Arial"/>
            </a:endParaRPr>
          </a:p>
          <a:p>
            <a:pPr indent="-330200" lvl="0" marL="457200" rtl="0" algn="l">
              <a:spcBef>
                <a:spcPts val="0"/>
              </a:spcBef>
              <a:spcAft>
                <a:spcPts val="0"/>
              </a:spcAft>
              <a:buClr>
                <a:schemeClr val="dk2"/>
              </a:buClr>
              <a:buSzPts val="1600"/>
              <a:buFont typeface="Arial"/>
              <a:buChar char="●"/>
            </a:pPr>
            <a:r>
              <a:rPr b="1" lang="en" sz="1600">
                <a:solidFill>
                  <a:schemeClr val="dk2"/>
                </a:solidFill>
                <a:latin typeface="Arial"/>
                <a:ea typeface="Arial"/>
                <a:cs typeface="Arial"/>
                <a:sym typeface="Arial"/>
              </a:rPr>
              <a:t>Vision Disability Aid</a:t>
            </a:r>
            <a:r>
              <a:rPr b="1" lang="en" sz="1600">
                <a:solidFill>
                  <a:schemeClr val="dk2"/>
                </a:solidFill>
                <a:latin typeface="Arial"/>
                <a:ea typeface="Arial"/>
                <a:cs typeface="Arial"/>
                <a:sym typeface="Arial"/>
              </a:rPr>
              <a:t>: </a:t>
            </a:r>
            <a:r>
              <a:rPr lang="en" sz="1600">
                <a:solidFill>
                  <a:schemeClr val="dk2"/>
                </a:solidFill>
                <a:latin typeface="Arial"/>
                <a:ea typeface="Arial"/>
                <a:cs typeface="Arial"/>
                <a:sym typeface="Arial"/>
              </a:rPr>
              <a:t>people suffering from partial vision impairments can be assisted and guided through traffic signs recognition systems to aid them in basic on foot commutes. </a:t>
            </a:r>
            <a:endParaRPr sz="1600">
              <a:solidFill>
                <a:schemeClr val="dk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65" name="Google Shape;365;p50"/>
          <p:cNvSpPr txBox="1"/>
          <p:nvPr>
            <p:ph idx="1" type="body"/>
          </p:nvPr>
        </p:nvSpPr>
        <p:spPr>
          <a:xfrm>
            <a:off x="729450" y="1284700"/>
            <a:ext cx="7688700" cy="345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2"/>
                </a:solidFill>
              </a:rPr>
              <a:t>The goal of this project is to develop an efficient traffic sign recognition system over GTSRB dataset.The traffic sign recognition model is very helpful for driver safety with increasing traffic. It is done using CNN and image processing, After 25 </a:t>
            </a:r>
            <a:r>
              <a:rPr lang="en">
                <a:solidFill>
                  <a:schemeClr val="dk2"/>
                </a:solidFill>
              </a:rPr>
              <a:t>epochs</a:t>
            </a:r>
            <a:r>
              <a:rPr lang="en">
                <a:solidFill>
                  <a:schemeClr val="dk2"/>
                </a:solidFill>
              </a:rPr>
              <a:t> it has achieved an accuracy of 96.4%, with each epoch making the the model more accurate .  But, there may be few challenges with regards to the vast variety for weather conditions and obstructions we might not have accounted for and a the model being </a:t>
            </a:r>
            <a:r>
              <a:rPr lang="en">
                <a:solidFill>
                  <a:schemeClr val="dk2"/>
                </a:solidFill>
              </a:rPr>
              <a:t>trained</a:t>
            </a:r>
            <a:r>
              <a:rPr lang="en">
                <a:solidFill>
                  <a:schemeClr val="dk2"/>
                </a:solidFill>
              </a:rPr>
              <a:t> using a muc</a:t>
            </a:r>
            <a:r>
              <a:rPr lang="en">
                <a:solidFill>
                  <a:schemeClr val="dk2"/>
                </a:solidFill>
              </a:rPr>
              <a:t>h smaller and limited</a:t>
            </a:r>
            <a:r>
              <a:rPr lang="en">
                <a:solidFill>
                  <a:schemeClr val="dk2"/>
                </a:solidFill>
              </a:rPr>
              <a:t> dataset.</a:t>
            </a:r>
            <a:endParaRPr>
              <a:solidFill>
                <a:schemeClr val="dk2"/>
              </a:solidFill>
            </a:endParaRPr>
          </a:p>
        </p:txBody>
      </p:sp>
      <p:pic>
        <p:nvPicPr>
          <p:cNvPr id="366" name="Google Shape;366;p50"/>
          <p:cNvPicPr preferRelativeResize="0"/>
          <p:nvPr/>
        </p:nvPicPr>
        <p:blipFill>
          <a:blip r:embed="rId3">
            <a:alphaModFix/>
          </a:blip>
          <a:stretch>
            <a:fillRect/>
          </a:stretch>
        </p:blipFill>
        <p:spPr>
          <a:xfrm>
            <a:off x="4136750" y="2776725"/>
            <a:ext cx="4660426" cy="2249725"/>
          </a:xfrm>
          <a:prstGeom prst="rect">
            <a:avLst/>
          </a:prstGeom>
          <a:noFill/>
          <a:ln>
            <a:noFill/>
          </a:ln>
        </p:spPr>
      </p:pic>
      <p:sp>
        <p:nvSpPr>
          <p:cNvPr id="367" name="Google Shape;367;p50"/>
          <p:cNvSpPr txBox="1"/>
          <p:nvPr/>
        </p:nvSpPr>
        <p:spPr>
          <a:xfrm>
            <a:off x="4222973" y="2677782"/>
            <a:ext cx="2503800" cy="208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368" name="Google Shape;368;p50"/>
          <p:cNvPicPr preferRelativeResize="0"/>
          <p:nvPr/>
        </p:nvPicPr>
        <p:blipFill>
          <a:blip r:embed="rId4">
            <a:alphaModFix/>
          </a:blip>
          <a:stretch>
            <a:fillRect/>
          </a:stretch>
        </p:blipFill>
        <p:spPr>
          <a:xfrm>
            <a:off x="176200" y="2776725"/>
            <a:ext cx="4233150" cy="2332700"/>
          </a:xfrm>
          <a:prstGeom prst="rect">
            <a:avLst/>
          </a:prstGeom>
          <a:noFill/>
          <a:ln>
            <a:noFill/>
          </a:ln>
        </p:spPr>
      </p:pic>
      <p:sp>
        <p:nvSpPr>
          <p:cNvPr id="369" name="Google Shape;369;p50"/>
          <p:cNvSpPr txBox="1"/>
          <p:nvPr/>
        </p:nvSpPr>
        <p:spPr>
          <a:xfrm>
            <a:off x="302585" y="2776720"/>
            <a:ext cx="2286600" cy="1947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1"/>
          <p:cNvSpPr txBox="1"/>
          <p:nvPr>
            <p:ph type="title"/>
          </p:nvPr>
        </p:nvSpPr>
        <p:spPr>
          <a:xfrm>
            <a:off x="727650" y="5905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CONTRIBUTIONS</a:t>
            </a:r>
            <a:endParaRPr/>
          </a:p>
        </p:txBody>
      </p:sp>
      <p:sp>
        <p:nvSpPr>
          <p:cNvPr id="375" name="Google Shape;375;p51"/>
          <p:cNvSpPr txBox="1"/>
          <p:nvPr>
            <p:ph idx="1" type="body"/>
          </p:nvPr>
        </p:nvSpPr>
        <p:spPr>
          <a:xfrm>
            <a:off x="727650" y="1303825"/>
            <a:ext cx="7688700" cy="345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800">
              <a:solidFill>
                <a:schemeClr val="dk2"/>
              </a:solidFill>
              <a:latin typeface="Arial"/>
              <a:ea typeface="Arial"/>
              <a:cs typeface="Arial"/>
              <a:sym typeface="Arial"/>
            </a:endParaRPr>
          </a:p>
          <a:p>
            <a:pPr indent="0" lvl="0" marL="0" rtl="0" algn="l">
              <a:spcBef>
                <a:spcPts val="1200"/>
              </a:spcBef>
              <a:spcAft>
                <a:spcPts val="0"/>
              </a:spcAft>
              <a:buNone/>
            </a:pPr>
            <a:r>
              <a:rPr b="1" lang="en" sz="1800">
                <a:solidFill>
                  <a:schemeClr val="dk2"/>
                </a:solidFill>
                <a:latin typeface="Arial"/>
                <a:ea typeface="Arial"/>
                <a:cs typeface="Arial"/>
                <a:sym typeface="Arial"/>
              </a:rPr>
              <a:t>Sai Keerthi Nelluri : Image Filtering</a:t>
            </a:r>
            <a:endParaRPr b="1" sz="1800">
              <a:solidFill>
                <a:schemeClr val="dk2"/>
              </a:solidFill>
              <a:latin typeface="Arial"/>
              <a:ea typeface="Arial"/>
              <a:cs typeface="Arial"/>
              <a:sym typeface="Arial"/>
            </a:endParaRPr>
          </a:p>
          <a:p>
            <a:pPr indent="0" lvl="0" marL="0" rtl="0" algn="l">
              <a:spcBef>
                <a:spcPts val="1200"/>
              </a:spcBef>
              <a:spcAft>
                <a:spcPts val="0"/>
              </a:spcAft>
              <a:buNone/>
            </a:pPr>
            <a:r>
              <a:rPr b="1" lang="en" sz="1800">
                <a:solidFill>
                  <a:schemeClr val="dk2"/>
                </a:solidFill>
                <a:latin typeface="Arial"/>
                <a:ea typeface="Arial"/>
                <a:cs typeface="Arial"/>
                <a:sym typeface="Arial"/>
              </a:rPr>
              <a:t>Shivam Mehta: Model Training</a:t>
            </a:r>
            <a:endParaRPr b="1" sz="1800">
              <a:solidFill>
                <a:schemeClr val="dk2"/>
              </a:solidFill>
              <a:latin typeface="Arial"/>
              <a:ea typeface="Arial"/>
              <a:cs typeface="Arial"/>
              <a:sym typeface="Arial"/>
            </a:endParaRPr>
          </a:p>
          <a:p>
            <a:pPr indent="0" lvl="0" marL="0" rtl="0" algn="l">
              <a:spcBef>
                <a:spcPts val="1200"/>
              </a:spcBef>
              <a:spcAft>
                <a:spcPts val="0"/>
              </a:spcAft>
              <a:buNone/>
            </a:pPr>
            <a:r>
              <a:rPr b="1" lang="en" sz="1800">
                <a:solidFill>
                  <a:schemeClr val="dk2"/>
                </a:solidFill>
                <a:latin typeface="Arial"/>
                <a:ea typeface="Arial"/>
                <a:cs typeface="Arial"/>
                <a:sym typeface="Arial"/>
              </a:rPr>
              <a:t>Rajesh Mahendran: Image Preprocessing</a:t>
            </a:r>
            <a:endParaRPr b="1" sz="1800">
              <a:solidFill>
                <a:schemeClr val="dk2"/>
              </a:solidFill>
              <a:latin typeface="Arial"/>
              <a:ea typeface="Arial"/>
              <a:cs typeface="Arial"/>
              <a:sym typeface="Arial"/>
            </a:endParaRPr>
          </a:p>
          <a:p>
            <a:pPr indent="0" lvl="0" marL="0" rtl="0" algn="l">
              <a:spcBef>
                <a:spcPts val="1200"/>
              </a:spcBef>
              <a:spcAft>
                <a:spcPts val="0"/>
              </a:spcAft>
              <a:buNone/>
            </a:pPr>
            <a:r>
              <a:t/>
            </a:r>
            <a:endParaRPr b="1" sz="1800">
              <a:solidFill>
                <a:schemeClr val="dk2"/>
              </a:solidFill>
              <a:latin typeface="Arial"/>
              <a:ea typeface="Arial"/>
              <a:cs typeface="Arial"/>
              <a:sym typeface="Arial"/>
            </a:endParaRPr>
          </a:p>
          <a:p>
            <a:pPr indent="0" lvl="0" marL="0" rtl="0" algn="l">
              <a:spcBef>
                <a:spcPts val="1200"/>
              </a:spcBef>
              <a:spcAft>
                <a:spcPts val="1200"/>
              </a:spcAft>
              <a:buNone/>
            </a:pPr>
            <a:r>
              <a:t/>
            </a:r>
            <a:endParaRPr b="1" sz="1800">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ph type="title"/>
          </p:nvPr>
        </p:nvSpPr>
        <p:spPr>
          <a:xfrm>
            <a:off x="913950" y="1355175"/>
            <a:ext cx="7316100" cy="183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t>THANK YOU</a:t>
            </a:r>
            <a:endParaRPr sz="74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